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20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33" r:id="rId1"/>
  </p:sldMasterIdLst>
  <p:notesMasterIdLst>
    <p:notesMasterId r:id="rId20"/>
  </p:notesMasterIdLst>
  <p:sldIdLst>
    <p:sldId id="257" r:id="rId2"/>
    <p:sldId id="926" r:id="rId3"/>
    <p:sldId id="927" r:id="rId4"/>
    <p:sldId id="842" r:id="rId5"/>
    <p:sldId id="941" r:id="rId6"/>
    <p:sldId id="929" r:id="rId7"/>
    <p:sldId id="936" r:id="rId8"/>
    <p:sldId id="940" r:id="rId9"/>
    <p:sldId id="931" r:id="rId10"/>
    <p:sldId id="935" r:id="rId11"/>
    <p:sldId id="925" r:id="rId12"/>
    <p:sldId id="942" r:id="rId13"/>
    <p:sldId id="939" r:id="rId14"/>
    <p:sldId id="896" r:id="rId15"/>
    <p:sldId id="934" r:id="rId16"/>
    <p:sldId id="943" r:id="rId17"/>
    <p:sldId id="945" r:id="rId18"/>
    <p:sldId id="94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84"/>
    <p:restoredTop sz="85890"/>
  </p:normalViewPr>
  <p:slideViewPr>
    <p:cSldViewPr snapToGrid="0">
      <p:cViewPr varScale="1">
        <p:scale>
          <a:sx n="104" d="100"/>
          <a:sy n="104" d="100"/>
        </p:scale>
        <p:origin x="1392" y="192"/>
      </p:cViewPr>
      <p:guideLst/>
    </p:cSldViewPr>
  </p:slideViewPr>
  <p:outlineViewPr>
    <p:cViewPr>
      <p:scale>
        <a:sx n="33" d="100"/>
        <a:sy n="33" d="100"/>
      </p:scale>
      <p:origin x="0" y="-9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41.png"/><Relationship Id="rId1" Type="http://schemas.openxmlformats.org/officeDocument/2006/relationships/image" Target="../media/image131.png"/><Relationship Id="rId6" Type="http://schemas.openxmlformats.org/officeDocument/2006/relationships/image" Target="../media/image181.png"/><Relationship Id="rId5" Type="http://schemas.openxmlformats.org/officeDocument/2006/relationships/image" Target="../media/image171.png"/><Relationship Id="rId4" Type="http://schemas.openxmlformats.org/officeDocument/2006/relationships/image" Target="../media/image16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B3AA41-29D2-490C-96FE-494197137D3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80A403B-FA3E-4F7B-A346-ABA7DB8F35F8}">
      <dgm:prSet custT="1"/>
      <dgm:spPr>
        <a:solidFill>
          <a:schemeClr val="accent1">
            <a:hueOff val="0"/>
            <a:satOff val="0"/>
            <a:lumOff val="0"/>
            <a:alpha val="20880"/>
          </a:schemeClr>
        </a:solidFill>
      </dgm:spPr>
      <dgm:t>
        <a:bodyPr/>
        <a:lstStyle/>
        <a:p>
          <a:r>
            <a: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Localized, unitary transformation of Bloch function.</a:t>
          </a:r>
          <a:br>
            <a: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endParaRPr lang="en-US" sz="24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4F6B22D-18FB-4563-A8C1-A626CCCC4443}" type="parTrans" cxnId="{C9DD2756-AEA9-4486-B08B-A05AFFB6ECF5}">
      <dgm:prSet/>
      <dgm:spPr/>
      <dgm:t>
        <a:bodyPr/>
        <a:lstStyle/>
        <a:p>
          <a:endParaRPr lang="en-US" sz="2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7066551-C288-4877-A246-2D3E0254FFC8}" type="sibTrans" cxnId="{C9DD2756-AEA9-4486-B08B-A05AFFB6ECF5}">
      <dgm:prSet/>
      <dgm:spPr/>
      <dgm:t>
        <a:bodyPr/>
        <a:lstStyle/>
        <a:p>
          <a:endParaRPr lang="en-US" sz="2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D793178-FBEC-47D6-A376-FDCE17412AFB}">
      <dgm:prSet custT="1"/>
      <dgm:spPr>
        <a:solidFill>
          <a:schemeClr val="accent1">
            <a:hueOff val="0"/>
            <a:satOff val="0"/>
            <a:lumOff val="0"/>
            <a:alpha val="20222"/>
          </a:schemeClr>
        </a:solidFill>
      </dgm:spPr>
      <dgm:t>
        <a:bodyPr/>
        <a:lstStyle/>
        <a:p>
          <a:r>
            <a: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Wannier functions are identical in every cell and orthogonal to its translations. </a:t>
          </a:r>
        </a:p>
      </dgm:t>
    </dgm:pt>
    <dgm:pt modelId="{C79E1D9B-E81F-40B7-8F00-EFAAA708545F}" type="parTrans" cxnId="{F0B3BF9C-4B09-4428-8A56-21ACBA273057}">
      <dgm:prSet/>
      <dgm:spPr/>
      <dgm:t>
        <a:bodyPr/>
        <a:lstStyle/>
        <a:p>
          <a:endParaRPr lang="en-US" sz="2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E49B080-06E3-40E5-98B7-C6BEA72B5096}" type="sibTrans" cxnId="{F0B3BF9C-4B09-4428-8A56-21ACBA273057}">
      <dgm:prSet/>
      <dgm:spPr/>
      <dgm:t>
        <a:bodyPr/>
        <a:lstStyle/>
        <a:p>
          <a:endParaRPr lang="en-US" sz="2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2A54100-64CF-435E-AA80-6219FC964843}">
      <dgm:prSet custT="1"/>
      <dgm:spPr>
        <a:solidFill>
          <a:schemeClr val="accent1">
            <a:hueOff val="0"/>
            <a:satOff val="0"/>
            <a:lumOff val="0"/>
            <a:alpha val="21000"/>
          </a:schemeClr>
        </a:solidFill>
      </dgm:spPr>
      <dgm:t>
        <a:bodyPr/>
        <a:lstStyle/>
        <a:p>
          <a:r>
            <a: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Simple translation of localized orbitals, they are not automatically orthogonal to their periodic images.</a:t>
          </a:r>
        </a:p>
      </dgm:t>
    </dgm:pt>
    <dgm:pt modelId="{BDD8588D-EDE9-4D78-ADA6-8E49F5EA3A74}" type="parTrans" cxnId="{A9395914-1EF9-4A4C-BDE9-678C35928801}">
      <dgm:prSet/>
      <dgm:spPr/>
      <dgm:t>
        <a:bodyPr/>
        <a:lstStyle/>
        <a:p>
          <a:endParaRPr lang="en-US" sz="2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598C928-ED87-4C77-855A-BB0B33910C55}" type="sibTrans" cxnId="{A9395914-1EF9-4A4C-BDE9-678C35928801}">
      <dgm:prSet/>
      <dgm:spPr/>
      <dgm:t>
        <a:bodyPr/>
        <a:lstStyle/>
        <a:p>
          <a:endParaRPr lang="en-US" sz="2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766584B-3B23-874D-8EFA-4520CE8A974B}" type="pres">
      <dgm:prSet presAssocID="{F0B3AA41-29D2-490C-96FE-494197137D3D}" presName="linear" presStyleCnt="0">
        <dgm:presLayoutVars>
          <dgm:animLvl val="lvl"/>
          <dgm:resizeHandles val="exact"/>
        </dgm:presLayoutVars>
      </dgm:prSet>
      <dgm:spPr/>
    </dgm:pt>
    <dgm:pt modelId="{53E04475-1627-9242-B711-5644B503C144}" type="pres">
      <dgm:prSet presAssocID="{A80A403B-FA3E-4F7B-A346-ABA7DB8F35F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83E7E1F-A493-4B4F-8CDF-BEF1D8ED9A48}" type="pres">
      <dgm:prSet presAssocID="{E7066551-C288-4877-A246-2D3E0254FFC8}" presName="spacer" presStyleCnt="0"/>
      <dgm:spPr/>
    </dgm:pt>
    <dgm:pt modelId="{0956FC3E-AEFC-B04C-AEF9-B91FE18ED98A}" type="pres">
      <dgm:prSet presAssocID="{4D793178-FBEC-47D6-A376-FDCE17412AF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F9A501B-6E9E-1C40-ADFE-C399DA89261F}" type="pres">
      <dgm:prSet presAssocID="{EE49B080-06E3-40E5-98B7-C6BEA72B5096}" presName="spacer" presStyleCnt="0"/>
      <dgm:spPr/>
    </dgm:pt>
    <dgm:pt modelId="{48F436F4-27A9-714E-BBDB-589077A83648}" type="pres">
      <dgm:prSet presAssocID="{42A54100-64CF-435E-AA80-6219FC96484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9395914-1EF9-4A4C-BDE9-678C35928801}" srcId="{F0B3AA41-29D2-490C-96FE-494197137D3D}" destId="{42A54100-64CF-435E-AA80-6219FC964843}" srcOrd="2" destOrd="0" parTransId="{BDD8588D-EDE9-4D78-ADA6-8E49F5EA3A74}" sibTransId="{2598C928-ED87-4C77-855A-BB0B33910C55}"/>
    <dgm:cxn modelId="{A7C20A48-58CB-1E46-94A6-540092E92C70}" type="presOf" srcId="{4D793178-FBEC-47D6-A376-FDCE17412AFB}" destId="{0956FC3E-AEFC-B04C-AEF9-B91FE18ED98A}" srcOrd="0" destOrd="0" presId="urn:microsoft.com/office/officeart/2005/8/layout/vList2"/>
    <dgm:cxn modelId="{C9DD2756-AEA9-4486-B08B-A05AFFB6ECF5}" srcId="{F0B3AA41-29D2-490C-96FE-494197137D3D}" destId="{A80A403B-FA3E-4F7B-A346-ABA7DB8F35F8}" srcOrd="0" destOrd="0" parTransId="{E4F6B22D-18FB-4563-A8C1-A626CCCC4443}" sibTransId="{E7066551-C288-4877-A246-2D3E0254FFC8}"/>
    <dgm:cxn modelId="{9EAB245D-FE67-9847-B1BE-C488A9D89B56}" type="presOf" srcId="{F0B3AA41-29D2-490C-96FE-494197137D3D}" destId="{8766584B-3B23-874D-8EFA-4520CE8A974B}" srcOrd="0" destOrd="0" presId="urn:microsoft.com/office/officeart/2005/8/layout/vList2"/>
    <dgm:cxn modelId="{D564D686-DC17-E141-8776-037DCC3CC2D7}" type="presOf" srcId="{A80A403B-FA3E-4F7B-A346-ABA7DB8F35F8}" destId="{53E04475-1627-9242-B711-5644B503C144}" srcOrd="0" destOrd="0" presId="urn:microsoft.com/office/officeart/2005/8/layout/vList2"/>
    <dgm:cxn modelId="{F0B3BF9C-4B09-4428-8A56-21ACBA273057}" srcId="{F0B3AA41-29D2-490C-96FE-494197137D3D}" destId="{4D793178-FBEC-47D6-A376-FDCE17412AFB}" srcOrd="1" destOrd="0" parTransId="{C79E1D9B-E81F-40B7-8F00-EFAAA708545F}" sibTransId="{EE49B080-06E3-40E5-98B7-C6BEA72B5096}"/>
    <dgm:cxn modelId="{D5D869DF-651D-C843-A61D-62D9979AE290}" type="presOf" srcId="{42A54100-64CF-435E-AA80-6219FC964843}" destId="{48F436F4-27A9-714E-BBDB-589077A83648}" srcOrd="0" destOrd="0" presId="urn:microsoft.com/office/officeart/2005/8/layout/vList2"/>
    <dgm:cxn modelId="{511431DE-EC3B-9749-811F-1983BA95722A}" type="presParOf" srcId="{8766584B-3B23-874D-8EFA-4520CE8A974B}" destId="{53E04475-1627-9242-B711-5644B503C144}" srcOrd="0" destOrd="0" presId="urn:microsoft.com/office/officeart/2005/8/layout/vList2"/>
    <dgm:cxn modelId="{C01F16B8-D1E0-554A-9F0D-F3D2532C521C}" type="presParOf" srcId="{8766584B-3B23-874D-8EFA-4520CE8A974B}" destId="{083E7E1F-A493-4B4F-8CDF-BEF1D8ED9A48}" srcOrd="1" destOrd="0" presId="urn:microsoft.com/office/officeart/2005/8/layout/vList2"/>
    <dgm:cxn modelId="{2C982B92-AF39-3745-B093-B1A09E97FFF9}" type="presParOf" srcId="{8766584B-3B23-874D-8EFA-4520CE8A974B}" destId="{0956FC3E-AEFC-B04C-AEF9-B91FE18ED98A}" srcOrd="2" destOrd="0" presId="urn:microsoft.com/office/officeart/2005/8/layout/vList2"/>
    <dgm:cxn modelId="{EEB3DA22-E444-444B-BA3F-D6F73C926193}" type="presParOf" srcId="{8766584B-3B23-874D-8EFA-4520CE8A974B}" destId="{0F9A501B-6E9E-1C40-ADFE-C399DA89261F}" srcOrd="3" destOrd="0" presId="urn:microsoft.com/office/officeart/2005/8/layout/vList2"/>
    <dgm:cxn modelId="{7600B43D-CFAE-6942-9344-1501265D9096}" type="presParOf" srcId="{8766584B-3B23-874D-8EFA-4520CE8A974B}" destId="{48F436F4-27A9-714E-BBDB-589077A83648}" srcOrd="4" destOrd="0" presId="urn:microsoft.com/office/officeart/2005/8/layout/vList2"/>
  </dgm:cxnLst>
  <dgm:bg>
    <a:solidFill>
      <a:schemeClr val="bg1">
        <a:alpha val="40000"/>
      </a:schemeClr>
    </a:solidFill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C575F6-956E-424C-BF18-861148881CA9}" type="doc">
      <dgm:prSet loTypeId="urn:microsoft.com/office/officeart/2005/8/layout/process2" loCatId="" qsTypeId="urn:microsoft.com/office/officeart/2005/8/quickstyle/simple1" qsCatId="simple" csTypeId="urn:microsoft.com/office/officeart/2005/8/colors/accent1_2" csCatId="accent1" phldr="1"/>
      <dgm:spPr/>
    </dgm:pt>
    <mc:AlternateContent xmlns:mc="http://schemas.openxmlformats.org/markup-compatibility/2006" xmlns:a14="http://schemas.microsoft.com/office/drawing/2010/main">
      <mc:Choice Requires="a14">
        <dgm:pt modelId="{85B673E6-DF43-D443-96E3-619387016024}">
          <dgm:prSet phldrT="[Text]" custT="1"/>
          <dgm:spPr>
            <a:solidFill>
              <a:schemeClr val="bg1"/>
            </a:solidFill>
            <a:ln w="50800">
              <a:solidFill>
                <a:schemeClr val="tx1"/>
              </a:solidFill>
            </a:ln>
          </dgm:spPr>
          <dgm:t>
            <a:bodyPr/>
            <a:lstStyle/>
            <a:p>
              <a:r>
                <a: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Guess 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</m:ctrlPr>
                    </m:sSubPr>
                    <m:e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𝝎</m:t>
                      </m:r>
                    </m:e>
                    <m:sub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𝒊</m:t>
                      </m:r>
                    </m:sub>
                  </m:sSub>
                </m:oMath>
              </a14:m>
              <a:endPara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dgm:t>
        </dgm:pt>
      </mc:Choice>
      <mc:Fallback xmlns="">
        <dgm:pt modelId="{85B673E6-DF43-D443-96E3-619387016024}">
          <dgm:prSet phldrT="[Text]" custT="1"/>
          <dgm:spPr>
            <a:solidFill>
              <a:schemeClr val="bg1"/>
            </a:solidFill>
            <a:ln w="50800">
              <a:solidFill>
                <a:schemeClr val="tx1"/>
              </a:solidFill>
            </a:ln>
          </dgm:spPr>
          <dgm:t>
            <a:bodyPr/>
            <a:lstStyle/>
            <a:p>
              <a:r>
                <a: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Guess </a:t>
              </a:r>
              <a:r>
                <a:rPr lang="en-US" sz="2000" b="1" i="0">
                  <a:solidFill>
                    <a:schemeClr val="tx1"/>
                  </a:solidFill>
                  <a:latin typeface="Cambria Math" panose="02040503050406030204" pitchFamily="18" charset="0"/>
                  <a:cs typeface="Arial" panose="020B0604020202020204" pitchFamily="34" charset="0"/>
                </a:rPr>
                <a:t>𝝎_𝒊</a:t>
              </a:r>
              <a:endPara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dgm:t>
        </dgm:pt>
      </mc:Fallback>
    </mc:AlternateContent>
    <dgm:pt modelId="{2B2E216A-FF41-7648-A803-DD0310A7ACBC}" type="parTrans" cxnId="{BBA572FE-2003-394F-B31A-DC7B4380E395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DB8C2CE-FF34-5844-B198-D28764B51731}" type="sibTrans" cxnId="{BBA572FE-2003-394F-B31A-DC7B4380E395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en-US" sz="2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593F2BB4-45DB-2941-90DB-EA3E4318EB09}">
          <dgm:prSet phldrT="[Text]" custT="1"/>
          <dgm:spPr>
            <a:solidFill>
              <a:schemeClr val="bg1"/>
            </a:solidFill>
            <a:ln w="50800">
              <a:solidFill>
                <a:schemeClr val="tx1"/>
              </a:solidFill>
            </a:ln>
          </dgm:spPr>
          <dgm:t>
            <a:bodyPr/>
            <a:lstStyle/>
            <a:p>
              <a:r>
                <a: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14:m>
                <m:oMath xmlns:m="http://schemas.openxmlformats.org/officeDocument/2006/math">
                  <m:r>
                    <a:rPr lang="en-US" sz="2000" b="1" i="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m:t>𝚷</m:t>
                  </m:r>
                </m:oMath>
              </a14:m>
              <a:r>
                <a: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Finding Loop</a:t>
              </a:r>
            </a:p>
          </dgm:t>
        </dgm:pt>
      </mc:Choice>
      <mc:Fallback xmlns="">
        <dgm:pt modelId="{593F2BB4-45DB-2941-90DB-EA3E4318EB09}">
          <dgm:prSet phldrT="[Text]" custT="1"/>
          <dgm:spPr>
            <a:solidFill>
              <a:schemeClr val="bg1"/>
            </a:solidFill>
            <a:ln w="50800">
              <a:solidFill>
                <a:schemeClr val="tx1"/>
              </a:solidFill>
            </a:ln>
          </dgm:spPr>
          <dgm:t>
            <a:bodyPr/>
            <a:lstStyle/>
            <a:p>
              <a:r>
                <a: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i="0">
                  <a:solidFill>
                    <a:schemeClr val="tx1"/>
                  </a:solidFill>
                  <a:latin typeface="Cambria Math" panose="02040503050406030204" pitchFamily="18" charset="0"/>
                </a:rPr>
                <a:t>𝚷</a:t>
              </a:r>
              <a:r>
                <a: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Finding Loop</a:t>
              </a:r>
            </a:p>
          </dgm:t>
        </dgm:pt>
      </mc:Fallback>
    </mc:AlternateContent>
    <dgm:pt modelId="{16E952D0-09A7-A947-B929-C6826167C8E1}" type="parTrans" cxnId="{372F707D-5341-1A4C-A0C5-AABBB2F521E7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90750F3-A9DA-2A4F-8282-A49588C6035F}" type="sibTrans" cxnId="{372F707D-5341-1A4C-A0C5-AABBB2F521E7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en-US" sz="2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0CCD1AA3-068C-704F-A8E2-9DF05E1F3421}">
          <dgm:prSet phldrT="[Text]" custT="1"/>
          <dgm:spPr>
            <a:solidFill>
              <a:schemeClr val="bg1"/>
            </a:solidFill>
            <a:ln w="50800">
              <a:solidFill>
                <a:schemeClr val="tx1"/>
              </a:solidFill>
            </a:ln>
          </dgm:spPr>
          <dgm:t>
            <a:bodyPr/>
            <a:lstStyle/>
            <a:p>
              <a:r>
                <a: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Build </a:t>
              </a:r>
              <a14:m>
                <m:oMath xmlns:m="http://schemas.openxmlformats.org/officeDocument/2006/math">
                  <m:d>
                    <m:dPr>
                      <m:ctrlP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</m:e>
                  </m:d>
                  <m:r>
                    <a:rPr lang="en-US" sz="2000" b="1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m:t> </m:t>
                  </m:r>
                </m:oMath>
              </a14:m>
              <a:r>
                <a: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</m:e>
                    <m:sub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sub>
                  </m:sSub>
                </m:oMath>
              </a14:m>
              <a:endPara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dgm:t>
        </dgm:pt>
      </mc:Choice>
      <mc:Fallback xmlns="">
        <dgm:pt modelId="{0CCD1AA3-068C-704F-A8E2-9DF05E1F3421}">
          <dgm:prSet phldrT="[Text]" custT="1"/>
          <dgm:spPr>
            <a:solidFill>
              <a:schemeClr val="bg1"/>
            </a:solidFill>
            <a:ln w="50800">
              <a:solidFill>
                <a:schemeClr val="tx1"/>
              </a:solidFill>
            </a:ln>
          </dgm:spPr>
          <dgm:t>
            <a:bodyPr/>
            <a:lstStyle/>
            <a:p>
              <a:r>
                <a: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Build </a:t>
              </a:r>
              <a:r>
                <a:rPr lang="en-US" sz="2000" b="1" i="0">
                  <a:solidFill>
                    <a:schemeClr val="tx1"/>
                  </a:solidFill>
                  <a:latin typeface="Cambria Math" panose="02040503050406030204" pitchFamily="18" charset="0"/>
                </a:rPr>
                <a:t>(𝟏−𝑷)  </a:t>
              </a:r>
              <a:r>
                <a: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</a:t>
              </a:r>
              <a:r>
                <a:rPr lang="en-US" sz="2000" b="1" i="0">
                  <a:solidFill>
                    <a:schemeClr val="tx1"/>
                  </a:solidFill>
                  <a:latin typeface="Cambria Math" panose="02040503050406030204" pitchFamily="18" charset="0"/>
                </a:rPr>
                <a:t>𝑯_𝒘</a:t>
              </a:r>
              <a:endPara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dgm:t>
        </dgm:pt>
      </mc:Fallback>
    </mc:AlternateContent>
    <dgm:pt modelId="{2EDE22A9-271D-5149-9CE0-BA696F361341}" type="parTrans" cxnId="{C7C92CD1-9DA9-E24C-AFE1-C5AB44ADD9D2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BCEF077-8D9F-F249-AE0F-653321BAAB5C}" type="sibTrans" cxnId="{C7C92CD1-9DA9-E24C-AFE1-C5AB44ADD9D2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en-US" sz="2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5BBA4ECE-04AF-1441-87C3-3B4F6C868D91}">
          <dgm:prSet phldrT="[Text]" custT="1"/>
          <dgm:spPr>
            <a:solidFill>
              <a:schemeClr val="bg1"/>
            </a:solidFill>
            <a:ln w="50800">
              <a:solidFill>
                <a:schemeClr val="tx1"/>
              </a:solidFill>
            </a:ln>
          </dgm:spPr>
          <dgm:t>
            <a:bodyPr/>
            <a:lstStyle/>
            <a:p>
              <a:r>
                <a: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Compute folded density 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</m:ctrlPr>
                    </m:sSubPr>
                    <m:e>
                      <m:acc>
                        <m:accPr>
                          <m:chr m:val="̅"/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𝒏</m:t>
                          </m:r>
                        </m:e>
                      </m:acc>
                    </m:e>
                    <m:sub>
                      <m:r>
                        <a:rPr lang="en-US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</m:sub>
                  </m:sSub>
                  <m:r>
                    <a:rPr lang="en-US" sz="2000" b="1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lang="en-US" sz="2000" b="1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m:t>𝒓</m:t>
                  </m:r>
                  <m:r>
                    <a:rPr lang="en-US" sz="2000" b="1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a14:m>
              <a:r>
                <a: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and obtain potential </a:t>
              </a:r>
              <a14:m>
                <m:oMath xmlns:m="http://schemas.openxmlformats.org/officeDocument/2006/math">
                  <m:r>
                    <a:rPr lang="en-US" sz="2000" b="1" i="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m:t>𝚽</m:t>
                  </m:r>
                  <m:r>
                    <a:rPr lang="en-US" sz="2000" b="1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lang="en-US" sz="2000" b="1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m:t>𝒓</m:t>
                  </m:r>
                  <m:r>
                    <a:rPr lang="en-US" sz="2000" b="1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a14:m>
              <a:endPara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dgm:t>
        </dgm:pt>
      </mc:Choice>
      <mc:Fallback xmlns="">
        <dgm:pt modelId="{5BBA4ECE-04AF-1441-87C3-3B4F6C868D91}">
          <dgm:prSet phldrT="[Text]" custT="1"/>
          <dgm:spPr>
            <a:solidFill>
              <a:schemeClr val="bg1"/>
            </a:solidFill>
            <a:ln w="50800">
              <a:solidFill>
                <a:schemeClr val="tx1"/>
              </a:solidFill>
            </a:ln>
          </dgm:spPr>
          <dgm:t>
            <a:bodyPr/>
            <a:lstStyle/>
            <a:p>
              <a:r>
                <a: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Compute folded density </a:t>
              </a:r>
              <a:r>
                <a:rPr lang="en-US" sz="2000" b="1" i="0">
                  <a:solidFill>
                    <a:schemeClr val="tx1"/>
                  </a:solidFill>
                  <a:latin typeface="Cambria Math" panose="02040503050406030204" pitchFamily="18" charset="0"/>
                  <a:cs typeface="Arial" panose="020B0604020202020204" pitchFamily="34" charset="0"/>
                </a:rPr>
                <a:t>𝒏 ̅</a:t>
              </a:r>
              <a:r>
                <a:rPr lang="en-US" sz="2000" b="1" i="0" dirty="0">
                  <a:solidFill>
                    <a:schemeClr val="tx1"/>
                  </a:solidFill>
                  <a:latin typeface="Cambria Math" panose="02040503050406030204" pitchFamily="18" charset="0"/>
                  <a:cs typeface="Arial" panose="020B0604020202020204" pitchFamily="34" charset="0"/>
                </a:rPr>
                <a:t>_𝟎</a:t>
              </a:r>
              <a:r>
                <a:rPr lang="en-US" sz="2000" b="1" i="0">
                  <a:solidFill>
                    <a:schemeClr val="tx1"/>
                  </a:solidFill>
                  <a:latin typeface="Cambria Math" panose="02040503050406030204" pitchFamily="18" charset="0"/>
                  <a:cs typeface="Arial" panose="020B0604020202020204" pitchFamily="34" charset="0"/>
                </a:rPr>
                <a:t> </a:t>
              </a:r>
              <a:r>
                <a:rPr lang="en-US" sz="2000" b="1" i="0">
                  <a:solidFill>
                    <a:schemeClr val="tx1"/>
                  </a:solidFill>
                  <a:latin typeface="Cambria Math" panose="02040503050406030204" pitchFamily="18" charset="0"/>
                </a:rPr>
                <a:t>(𝒓)</a:t>
              </a:r>
              <a:r>
                <a: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and obtain potential </a:t>
              </a:r>
              <a:r>
                <a:rPr lang="en-US" sz="2000" b="1" i="0">
                  <a:solidFill>
                    <a:schemeClr val="tx1"/>
                  </a:solidFill>
                  <a:latin typeface="Cambria Math" panose="02040503050406030204" pitchFamily="18" charset="0"/>
                </a:rPr>
                <a:t>𝚽(𝒓)</a:t>
              </a:r>
              <a:endPara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dgm:t>
        </dgm:pt>
      </mc:Fallback>
    </mc:AlternateContent>
    <dgm:pt modelId="{5256336B-4366-6C40-B741-4AB81FEBD444}" type="parTrans" cxnId="{D7DFC227-2014-8F44-9746-30C6DE172D8E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9E3492C-5641-0040-B0E2-380C41419D13}" type="sibTrans" cxnId="{D7DFC227-2014-8F44-9746-30C6DE172D8E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en-US" sz="2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817C856A-6CD6-9543-BE87-A4ECF1229F6C}">
          <dgm:prSet phldrT="[Text]" custT="1"/>
          <dgm:spPr>
            <a:solidFill>
              <a:schemeClr val="bg1"/>
            </a:solidFill>
            <a:ln w="50800">
              <a:solidFill>
                <a:schemeClr val="tx1"/>
              </a:solidFill>
            </a:ln>
          </dgm:spPr>
          <dgm:t>
            <a:bodyPr/>
            <a:lstStyle/>
            <a:p>
              <a:r>
                <a: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Build updated crystal Hamiltonian 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𝐇</m:t>
                      </m:r>
                    </m:e>
                    <m:sub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sub>
                  </m:sSub>
                </m:oMath>
              </a14:m>
              <a:endPara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dgm:t>
        </dgm:pt>
      </mc:Choice>
      <mc:Fallback xmlns="">
        <dgm:pt modelId="{817C856A-6CD6-9543-BE87-A4ECF1229F6C}">
          <dgm:prSet phldrT="[Text]" custT="1"/>
          <dgm:spPr>
            <a:solidFill>
              <a:schemeClr val="bg1"/>
            </a:solidFill>
            <a:ln w="50800">
              <a:solidFill>
                <a:schemeClr val="tx1"/>
              </a:solidFill>
            </a:ln>
          </dgm:spPr>
          <dgm:t>
            <a:bodyPr/>
            <a:lstStyle/>
            <a:p>
              <a:r>
                <a: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Build updated crystal Hamiltonian </a:t>
              </a:r>
              <a:r>
                <a:rPr lang="en-US" sz="2000" b="1" i="0">
                  <a:solidFill>
                    <a:schemeClr val="tx1"/>
                  </a:solidFill>
                  <a:latin typeface="Cambria Math" panose="02040503050406030204" pitchFamily="18" charset="0"/>
                </a:rPr>
                <a:t>𝐇_𝟎</a:t>
              </a:r>
              <a:endPara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dgm:t>
        </dgm:pt>
      </mc:Fallback>
    </mc:AlternateContent>
    <dgm:pt modelId="{FEF1D5A6-FCB1-994C-85F4-0D5744F30742}" type="parTrans" cxnId="{313CA210-8C58-C749-8610-F34F195FDEA5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36B8171-C1DA-F344-85A7-E7FA6578D8AB}" type="sibTrans" cxnId="{313CA210-8C58-C749-8610-F34F195FDEA5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en-US" sz="2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D852677-07EC-9944-B11F-5FEFD30E6CB4}">
      <dgm:prSet phldrT="[Text]" custT="1"/>
      <dgm:spPr>
        <a:solidFill>
          <a:schemeClr val="bg1"/>
        </a:solidFill>
        <a:ln w="50800">
          <a:solidFill>
            <a:schemeClr val="tx1"/>
          </a:solidFill>
        </a:ln>
      </dgm:spPr>
      <dgm:t>
        <a:bodyPr/>
        <a:lstStyle/>
        <a:p>
          <a:r>
            <a:rPr 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Check convergence</a:t>
          </a:r>
          <a:br>
            <a:rPr 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(Energy OR density)</a:t>
          </a:r>
        </a:p>
      </dgm:t>
    </dgm:pt>
    <dgm:pt modelId="{E0A469EA-DD68-EB4C-BEBB-60753BB25E8C}" type="parTrans" cxnId="{730CBEAF-C261-C949-B8F3-72DB56CC17F4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D3A7B29-072C-1C48-AFC3-FB785203026F}" type="sibTrans" cxnId="{730CBEAF-C261-C949-B8F3-72DB56CC17F4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en-US" sz="2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850797D-B63A-D248-99A5-7065AC0F9856}">
      <dgm:prSet phldrT="[Text]" custT="1"/>
      <dgm:spPr>
        <a:solidFill>
          <a:schemeClr val="bg1"/>
        </a:solidFill>
        <a:ln w="50800">
          <a:solidFill>
            <a:schemeClr val="tx1"/>
          </a:solidFill>
        </a:ln>
      </dgm:spPr>
      <dgm:t>
        <a:bodyPr/>
        <a:lstStyle/>
        <a:p>
          <a:r>
            <a:rPr 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SCF Solution</a:t>
          </a:r>
        </a:p>
      </dgm:t>
    </dgm:pt>
    <dgm:pt modelId="{64D420EC-2C67-344B-A406-62EB7680D9C8}" type="parTrans" cxnId="{68D58B07-C666-E847-9ADD-EB6372C56B7E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473ADD1-A106-DC49-BB15-652778D9F150}" type="sibTrans" cxnId="{68D58B07-C666-E847-9ADD-EB6372C56B7E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BB92C8E5-BBE9-094F-9476-C93D16CAABBA}">
          <dgm:prSet custT="1"/>
          <dgm:spPr>
            <a:noFill/>
            <a:ln w="34925">
              <a:solidFill>
                <a:schemeClr val="tx1"/>
              </a:solidFill>
            </a:ln>
          </dgm:spPr>
          <dgm:t>
            <a:bodyPr/>
            <a:lstStyle/>
            <a:p>
              <a:r>
                <a: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Diagonalize 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</m:e>
                    <m:sub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sub>
                  </m:sSub>
                  <m:r>
                    <a:rPr lang="en-US" sz="2000" b="1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m:t>→</m:t>
                  </m:r>
                </m:oMath>
              </a14:m>
              <a:r>
                <a: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new  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𝝎</m:t>
                      </m:r>
                    </m:e>
                    <m:sub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sub>
                  </m:sSub>
                </m:oMath>
              </a14:m>
              <a:endPara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dgm:t>
        </dgm:pt>
      </mc:Choice>
      <mc:Fallback xmlns="">
        <dgm:pt modelId="{BB92C8E5-BBE9-094F-9476-C93D16CAABBA}">
          <dgm:prSet custT="1"/>
          <dgm:spPr>
            <a:noFill/>
            <a:ln w="34925">
              <a:solidFill>
                <a:schemeClr val="tx1"/>
              </a:solidFill>
            </a:ln>
          </dgm:spPr>
          <dgm:t>
            <a:bodyPr/>
            <a:lstStyle/>
            <a:p>
              <a:r>
                <a: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Diagonalize </a:t>
              </a:r>
              <a:r>
                <a:rPr lang="en-US" sz="2000" b="1" i="0">
                  <a:solidFill>
                    <a:schemeClr val="tx1"/>
                  </a:solidFill>
                  <a:latin typeface="Cambria Math" panose="02040503050406030204" pitchFamily="18" charset="0"/>
                </a:rPr>
                <a:t>𝑯_𝒘→</a:t>
              </a:r>
              <a:r>
                <a: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new  </a:t>
              </a:r>
              <a:r>
                <a:rPr lang="en-US" sz="2000" b="1" i="0">
                  <a:solidFill>
                    <a:schemeClr val="tx1"/>
                  </a:solidFill>
                  <a:latin typeface="Cambria Math" panose="02040503050406030204" pitchFamily="18" charset="0"/>
                </a:rPr>
                <a:t>𝝎_𝒊</a:t>
              </a:r>
              <a:endPara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dgm:t>
        </dgm:pt>
      </mc:Fallback>
    </mc:AlternateContent>
    <dgm:pt modelId="{34FE9B0B-8A05-0740-B4FC-5838BE61A10B}" type="parTrans" cxnId="{D99627CA-F9E0-8543-873B-21007934056A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4AEE6FB-0529-454F-9043-75AAB1F39D47}" type="sibTrans" cxnId="{D99627CA-F9E0-8543-873B-21007934056A}">
      <dgm:prSet custT="1"/>
      <dgm:spPr>
        <a:solidFill>
          <a:schemeClr val="tx1"/>
        </a:solidFill>
      </dgm:spPr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3775FB1-7D93-AD4C-BC81-D4A3B696D12A}" type="pres">
      <dgm:prSet presAssocID="{E9C575F6-956E-424C-BF18-861148881CA9}" presName="linearFlow" presStyleCnt="0">
        <dgm:presLayoutVars>
          <dgm:resizeHandles val="exact"/>
        </dgm:presLayoutVars>
      </dgm:prSet>
      <dgm:spPr/>
    </dgm:pt>
    <dgm:pt modelId="{4DB1E015-80A7-BF44-A3FE-147227886F24}" type="pres">
      <dgm:prSet presAssocID="{85B673E6-DF43-D443-96E3-619387016024}" presName="node" presStyleLbl="node1" presStyleIdx="0" presStyleCnt="8" custScaleX="334872" custScaleY="312074" custLinFactX="-100000" custLinFactY="99619" custLinFactNeighborX="-128639" custLinFactNeighborY="100000">
        <dgm:presLayoutVars>
          <dgm:bulletEnabled val="1"/>
        </dgm:presLayoutVars>
      </dgm:prSet>
      <dgm:spPr/>
    </dgm:pt>
    <dgm:pt modelId="{73FDBF50-E8E9-A445-B468-DBE906CA9D2A}" type="pres">
      <dgm:prSet presAssocID="{8DB8C2CE-FF34-5844-B198-D28764B51731}" presName="sibTrans" presStyleLbl="sibTrans2D1" presStyleIdx="0" presStyleCnt="7" custScaleX="131684" custScaleY="91554"/>
      <dgm:spPr/>
    </dgm:pt>
    <dgm:pt modelId="{4793ED14-575A-F941-BEB8-71F2C7D68AB4}" type="pres">
      <dgm:prSet presAssocID="{8DB8C2CE-FF34-5844-B198-D28764B51731}" presName="connectorText" presStyleLbl="sibTrans2D1" presStyleIdx="0" presStyleCnt="7"/>
      <dgm:spPr/>
    </dgm:pt>
    <dgm:pt modelId="{F3EAE146-C824-EB47-BE93-6CC95E24A5E1}" type="pres">
      <dgm:prSet presAssocID="{593F2BB4-45DB-2941-90DB-EA3E4318EB09}" presName="node" presStyleLbl="node1" presStyleIdx="1" presStyleCnt="8" custScaleX="417537" custScaleY="312074" custLinFactX="100000" custLinFactY="-107666" custLinFactNeighborX="129282" custLinFactNeighborY="-200000">
        <dgm:presLayoutVars>
          <dgm:bulletEnabled val="1"/>
        </dgm:presLayoutVars>
      </dgm:prSet>
      <dgm:spPr/>
    </dgm:pt>
    <dgm:pt modelId="{CE0C7770-D928-624D-AAEC-1121DC50449B}" type="pres">
      <dgm:prSet presAssocID="{490750F3-A9DA-2A4F-8282-A49588C6035F}" presName="sibTrans" presStyleLbl="sibTrans2D1" presStyleIdx="1" presStyleCnt="7" custScaleX="131684" custScaleY="91554"/>
      <dgm:spPr/>
    </dgm:pt>
    <dgm:pt modelId="{7C5C3099-9597-7142-834B-DF519DEC992B}" type="pres">
      <dgm:prSet presAssocID="{490750F3-A9DA-2A4F-8282-A49588C6035F}" presName="connectorText" presStyleLbl="sibTrans2D1" presStyleIdx="1" presStyleCnt="7"/>
      <dgm:spPr/>
    </dgm:pt>
    <dgm:pt modelId="{6328C9F0-DF55-2B44-AA88-C47C3FD2807D}" type="pres">
      <dgm:prSet presAssocID="{0CCD1AA3-068C-704F-A8E2-9DF05E1F3421}" presName="node" presStyleLbl="node1" presStyleIdx="2" presStyleCnt="8" custScaleX="405257" custScaleY="312074" custLinFactX="100000" custLinFactY="-100000" custLinFactNeighborX="129282" custLinFactNeighborY="-154947">
        <dgm:presLayoutVars>
          <dgm:bulletEnabled val="1"/>
        </dgm:presLayoutVars>
      </dgm:prSet>
      <dgm:spPr/>
    </dgm:pt>
    <dgm:pt modelId="{0755BF78-222B-2746-BADC-A3AD17A4305E}" type="pres">
      <dgm:prSet presAssocID="{8BCEF077-8D9F-F249-AE0F-653321BAAB5C}" presName="sibTrans" presStyleLbl="sibTrans2D1" presStyleIdx="2" presStyleCnt="7" custScaleX="131684" custScaleY="91554"/>
      <dgm:spPr/>
    </dgm:pt>
    <dgm:pt modelId="{55607A2D-EDCC-B54C-A0AC-A6CF858917DB}" type="pres">
      <dgm:prSet presAssocID="{8BCEF077-8D9F-F249-AE0F-653321BAAB5C}" presName="connectorText" presStyleLbl="sibTrans2D1" presStyleIdx="2" presStyleCnt="7"/>
      <dgm:spPr/>
    </dgm:pt>
    <dgm:pt modelId="{DCB8FDE7-7F84-BD41-8807-C39E7847C973}" type="pres">
      <dgm:prSet presAssocID="{BB92C8E5-BBE9-094F-9476-C93D16CAABBA}" presName="node" presStyleLbl="node1" presStyleIdx="3" presStyleCnt="8" custScaleX="421439" custScaleY="306502" custLinFactX="100000" custLinFactY="-75074" custLinFactNeighborX="135458" custLinFactNeighborY="-100000">
        <dgm:presLayoutVars>
          <dgm:bulletEnabled val="1"/>
        </dgm:presLayoutVars>
      </dgm:prSet>
      <dgm:spPr/>
    </dgm:pt>
    <dgm:pt modelId="{E05E62C6-6D98-7446-9D31-B18250196871}" type="pres">
      <dgm:prSet presAssocID="{04AEE6FB-0529-454F-9043-75AAB1F39D47}" presName="sibTrans" presStyleLbl="sibTrans2D1" presStyleIdx="3" presStyleCnt="7"/>
      <dgm:spPr/>
    </dgm:pt>
    <dgm:pt modelId="{BD771B1B-72D4-DE45-A3FC-85DF953CFA8C}" type="pres">
      <dgm:prSet presAssocID="{04AEE6FB-0529-454F-9043-75AAB1F39D47}" presName="connectorText" presStyleLbl="sibTrans2D1" presStyleIdx="3" presStyleCnt="7"/>
      <dgm:spPr/>
    </dgm:pt>
    <dgm:pt modelId="{E4E3428E-7BEC-F24A-A974-A5868E69D7DD}" type="pres">
      <dgm:prSet presAssocID="{5BBA4ECE-04AF-1441-87C3-3B4F6C868D91}" presName="node" presStyleLbl="node1" presStyleIdx="4" presStyleCnt="8" custScaleX="549148" custScaleY="424897" custLinFactX="100000" custLinFactNeighborX="129282" custLinFactNeighborY="-95952">
        <dgm:presLayoutVars>
          <dgm:bulletEnabled val="1"/>
        </dgm:presLayoutVars>
      </dgm:prSet>
      <dgm:spPr/>
    </dgm:pt>
    <dgm:pt modelId="{D796963C-8F2A-2A45-A938-F3BF14287B35}" type="pres">
      <dgm:prSet presAssocID="{49E3492C-5641-0040-B0E2-380C41419D13}" presName="sibTrans" presStyleLbl="sibTrans2D1" presStyleIdx="4" presStyleCnt="7" custScaleX="131684" custScaleY="91554"/>
      <dgm:spPr/>
    </dgm:pt>
    <dgm:pt modelId="{3E09DDFF-4225-CB48-8D69-018F0E8E8C37}" type="pres">
      <dgm:prSet presAssocID="{49E3492C-5641-0040-B0E2-380C41419D13}" presName="connectorText" presStyleLbl="sibTrans2D1" presStyleIdx="4" presStyleCnt="7"/>
      <dgm:spPr/>
    </dgm:pt>
    <dgm:pt modelId="{C0113F39-6FD0-4B45-A3F9-6096250084F9}" type="pres">
      <dgm:prSet presAssocID="{817C856A-6CD6-9543-BE87-A4ECF1229F6C}" presName="node" presStyleLbl="node1" presStyleIdx="5" presStyleCnt="8" custScaleX="420732" custScaleY="380016" custLinFactX="100000" custLinFactNeighborX="129282" custLinFactNeighborY="85514">
        <dgm:presLayoutVars>
          <dgm:bulletEnabled val="1"/>
        </dgm:presLayoutVars>
      </dgm:prSet>
      <dgm:spPr/>
    </dgm:pt>
    <dgm:pt modelId="{133C39D1-2434-1144-83EB-7A1D969579F3}" type="pres">
      <dgm:prSet presAssocID="{036B8171-C1DA-F344-85A7-E7FA6578D8AB}" presName="sibTrans" presStyleLbl="sibTrans2D1" presStyleIdx="5" presStyleCnt="7" custScaleX="131684" custScaleY="91554"/>
      <dgm:spPr/>
    </dgm:pt>
    <dgm:pt modelId="{6A9FFDA0-2978-2C43-A021-4F37DE00CAF9}" type="pres">
      <dgm:prSet presAssocID="{036B8171-C1DA-F344-85A7-E7FA6578D8AB}" presName="connectorText" presStyleLbl="sibTrans2D1" presStyleIdx="5" presStyleCnt="7"/>
      <dgm:spPr/>
    </dgm:pt>
    <dgm:pt modelId="{01AEC4D7-1D81-AE40-A5D0-41793689DFAD}" type="pres">
      <dgm:prSet presAssocID="{AD852677-07EC-9944-B11F-5FEFD30E6CB4}" presName="node" presStyleLbl="node1" presStyleIdx="6" presStyleCnt="8" custScaleX="408668" custScaleY="312074" custLinFactX="100000" custLinFactY="89988" custLinFactNeighborX="129282" custLinFactNeighborY="100000">
        <dgm:presLayoutVars>
          <dgm:bulletEnabled val="1"/>
        </dgm:presLayoutVars>
      </dgm:prSet>
      <dgm:spPr/>
    </dgm:pt>
    <dgm:pt modelId="{E28CFEC2-228E-1A4B-9C57-3CE32F4A5E9C}" type="pres">
      <dgm:prSet presAssocID="{ED3A7B29-072C-1C48-AFC3-FB785203026F}" presName="sibTrans" presStyleLbl="sibTrans2D1" presStyleIdx="6" presStyleCnt="7" custScaleX="131684" custScaleY="91554"/>
      <dgm:spPr/>
    </dgm:pt>
    <dgm:pt modelId="{BDC074EE-6D90-6643-A6B0-88E7B3D40BD6}" type="pres">
      <dgm:prSet presAssocID="{ED3A7B29-072C-1C48-AFC3-FB785203026F}" presName="connectorText" presStyleLbl="sibTrans2D1" presStyleIdx="6" presStyleCnt="7"/>
      <dgm:spPr/>
    </dgm:pt>
    <dgm:pt modelId="{AD01BE72-E466-DB40-9E5A-3E1F9C13EFCC}" type="pres">
      <dgm:prSet presAssocID="{C850797D-B63A-D248-99A5-7065AC0F9856}" presName="node" presStyleLbl="node1" presStyleIdx="7" presStyleCnt="8" custScaleX="334872" custScaleY="312074" custLinFactX="-100000" custLinFactY="-109502" custLinFactNeighborX="-145882" custLinFactNeighborY="-200000">
        <dgm:presLayoutVars>
          <dgm:bulletEnabled val="1"/>
        </dgm:presLayoutVars>
      </dgm:prSet>
      <dgm:spPr/>
    </dgm:pt>
  </dgm:ptLst>
  <dgm:cxnLst>
    <dgm:cxn modelId="{68D58B07-C666-E847-9ADD-EB6372C56B7E}" srcId="{E9C575F6-956E-424C-BF18-861148881CA9}" destId="{C850797D-B63A-D248-99A5-7065AC0F9856}" srcOrd="7" destOrd="0" parTransId="{64D420EC-2C67-344B-A406-62EB7680D9C8}" sibTransId="{8473ADD1-A106-DC49-BB15-652778D9F150}"/>
    <dgm:cxn modelId="{313CA210-8C58-C749-8610-F34F195FDEA5}" srcId="{E9C575F6-956E-424C-BF18-861148881CA9}" destId="{817C856A-6CD6-9543-BE87-A4ECF1229F6C}" srcOrd="5" destOrd="0" parTransId="{FEF1D5A6-FCB1-994C-85F4-0D5744F30742}" sibTransId="{036B8171-C1DA-F344-85A7-E7FA6578D8AB}"/>
    <dgm:cxn modelId="{2576B51D-A818-9843-9F99-81F834A6327A}" type="presOf" srcId="{E9C575F6-956E-424C-BF18-861148881CA9}" destId="{23775FB1-7D93-AD4C-BC81-D4A3B696D12A}" srcOrd="0" destOrd="0" presId="urn:microsoft.com/office/officeart/2005/8/layout/process2"/>
    <dgm:cxn modelId="{76DA1820-8074-8446-B2EC-DFE7FC55BC8D}" type="presOf" srcId="{8BCEF077-8D9F-F249-AE0F-653321BAAB5C}" destId="{0755BF78-222B-2746-BADC-A3AD17A4305E}" srcOrd="0" destOrd="0" presId="urn:microsoft.com/office/officeart/2005/8/layout/process2"/>
    <dgm:cxn modelId="{D7DFC227-2014-8F44-9746-30C6DE172D8E}" srcId="{E9C575F6-956E-424C-BF18-861148881CA9}" destId="{5BBA4ECE-04AF-1441-87C3-3B4F6C868D91}" srcOrd="4" destOrd="0" parTransId="{5256336B-4366-6C40-B741-4AB81FEBD444}" sibTransId="{49E3492C-5641-0040-B0E2-380C41419D13}"/>
    <dgm:cxn modelId="{AAD0E638-D5C0-2948-9B52-9C6F815A3126}" type="presOf" srcId="{85B673E6-DF43-D443-96E3-619387016024}" destId="{4DB1E015-80A7-BF44-A3FE-147227886F24}" srcOrd="0" destOrd="0" presId="urn:microsoft.com/office/officeart/2005/8/layout/process2"/>
    <dgm:cxn modelId="{6A30833C-8A12-7D40-8315-77E1C6B57C58}" type="presOf" srcId="{04AEE6FB-0529-454F-9043-75AAB1F39D47}" destId="{E05E62C6-6D98-7446-9D31-B18250196871}" srcOrd="0" destOrd="0" presId="urn:microsoft.com/office/officeart/2005/8/layout/process2"/>
    <dgm:cxn modelId="{7914E940-82BB-CB42-974F-CA8607A126FF}" type="presOf" srcId="{ED3A7B29-072C-1C48-AFC3-FB785203026F}" destId="{E28CFEC2-228E-1A4B-9C57-3CE32F4A5E9C}" srcOrd="0" destOrd="0" presId="urn:microsoft.com/office/officeart/2005/8/layout/process2"/>
    <dgm:cxn modelId="{6765F54D-EC0A-6644-B227-537E16852407}" type="presOf" srcId="{ED3A7B29-072C-1C48-AFC3-FB785203026F}" destId="{BDC074EE-6D90-6643-A6B0-88E7B3D40BD6}" srcOrd="1" destOrd="0" presId="urn:microsoft.com/office/officeart/2005/8/layout/process2"/>
    <dgm:cxn modelId="{9184B863-57EA-B144-ACF2-6A457EF9C8DE}" type="presOf" srcId="{817C856A-6CD6-9543-BE87-A4ECF1229F6C}" destId="{C0113F39-6FD0-4B45-A3F9-6096250084F9}" srcOrd="0" destOrd="0" presId="urn:microsoft.com/office/officeart/2005/8/layout/process2"/>
    <dgm:cxn modelId="{3AAC3F6E-07D5-674B-AA4C-6E1685B6FC37}" type="presOf" srcId="{593F2BB4-45DB-2941-90DB-EA3E4318EB09}" destId="{F3EAE146-C824-EB47-BE93-6CC95E24A5E1}" srcOrd="0" destOrd="0" presId="urn:microsoft.com/office/officeart/2005/8/layout/process2"/>
    <dgm:cxn modelId="{FBC1C077-F5BF-5245-B5AA-709B08C48795}" type="presOf" srcId="{49E3492C-5641-0040-B0E2-380C41419D13}" destId="{D796963C-8F2A-2A45-A938-F3BF14287B35}" srcOrd="0" destOrd="0" presId="urn:microsoft.com/office/officeart/2005/8/layout/process2"/>
    <dgm:cxn modelId="{372F707D-5341-1A4C-A0C5-AABBB2F521E7}" srcId="{E9C575F6-956E-424C-BF18-861148881CA9}" destId="{593F2BB4-45DB-2941-90DB-EA3E4318EB09}" srcOrd="1" destOrd="0" parTransId="{16E952D0-09A7-A947-B929-C6826167C8E1}" sibTransId="{490750F3-A9DA-2A4F-8282-A49588C6035F}"/>
    <dgm:cxn modelId="{FB1C2686-2F40-804D-AB9B-FD783CCCB01D}" type="presOf" srcId="{490750F3-A9DA-2A4F-8282-A49588C6035F}" destId="{7C5C3099-9597-7142-834B-DF519DEC992B}" srcOrd="1" destOrd="0" presId="urn:microsoft.com/office/officeart/2005/8/layout/process2"/>
    <dgm:cxn modelId="{DBEAAD97-0A5D-9A4A-A6F4-6204ADA6B073}" type="presOf" srcId="{036B8171-C1DA-F344-85A7-E7FA6578D8AB}" destId="{133C39D1-2434-1144-83EB-7A1D969579F3}" srcOrd="0" destOrd="0" presId="urn:microsoft.com/office/officeart/2005/8/layout/process2"/>
    <dgm:cxn modelId="{984CCE9A-377B-7C47-B705-FB99BFAE4037}" type="presOf" srcId="{8BCEF077-8D9F-F249-AE0F-653321BAAB5C}" destId="{55607A2D-EDCC-B54C-A0AC-A6CF858917DB}" srcOrd="1" destOrd="0" presId="urn:microsoft.com/office/officeart/2005/8/layout/process2"/>
    <dgm:cxn modelId="{535D559C-4793-A848-915C-1A04DF40C9DB}" type="presOf" srcId="{8DB8C2CE-FF34-5844-B198-D28764B51731}" destId="{73FDBF50-E8E9-A445-B468-DBE906CA9D2A}" srcOrd="0" destOrd="0" presId="urn:microsoft.com/office/officeart/2005/8/layout/process2"/>
    <dgm:cxn modelId="{2F68F29E-04F9-F441-9303-156A00D87FBE}" type="presOf" srcId="{AD852677-07EC-9944-B11F-5FEFD30E6CB4}" destId="{01AEC4D7-1D81-AE40-A5D0-41793689DFAD}" srcOrd="0" destOrd="0" presId="urn:microsoft.com/office/officeart/2005/8/layout/process2"/>
    <dgm:cxn modelId="{D042BEA6-9E61-1441-B54E-CF8F234675CF}" type="presOf" srcId="{C850797D-B63A-D248-99A5-7065AC0F9856}" destId="{AD01BE72-E466-DB40-9E5A-3E1F9C13EFCC}" srcOrd="0" destOrd="0" presId="urn:microsoft.com/office/officeart/2005/8/layout/process2"/>
    <dgm:cxn modelId="{730CBEAF-C261-C949-B8F3-72DB56CC17F4}" srcId="{E9C575F6-956E-424C-BF18-861148881CA9}" destId="{AD852677-07EC-9944-B11F-5FEFD30E6CB4}" srcOrd="6" destOrd="0" parTransId="{E0A469EA-DD68-EB4C-BEBB-60753BB25E8C}" sibTransId="{ED3A7B29-072C-1C48-AFC3-FB785203026F}"/>
    <dgm:cxn modelId="{42CE12BA-B408-A845-880A-CB967A87020D}" type="presOf" srcId="{490750F3-A9DA-2A4F-8282-A49588C6035F}" destId="{CE0C7770-D928-624D-AAEC-1121DC50449B}" srcOrd="0" destOrd="0" presId="urn:microsoft.com/office/officeart/2005/8/layout/process2"/>
    <dgm:cxn modelId="{280F02C0-C587-C944-8150-C3E8DA0E429C}" type="presOf" srcId="{036B8171-C1DA-F344-85A7-E7FA6578D8AB}" destId="{6A9FFDA0-2978-2C43-A021-4F37DE00CAF9}" srcOrd="1" destOrd="0" presId="urn:microsoft.com/office/officeart/2005/8/layout/process2"/>
    <dgm:cxn modelId="{D99627CA-F9E0-8543-873B-21007934056A}" srcId="{E9C575F6-956E-424C-BF18-861148881CA9}" destId="{BB92C8E5-BBE9-094F-9476-C93D16CAABBA}" srcOrd="3" destOrd="0" parTransId="{34FE9B0B-8A05-0740-B4FC-5838BE61A10B}" sibTransId="{04AEE6FB-0529-454F-9043-75AAB1F39D47}"/>
    <dgm:cxn modelId="{C7C92CD1-9DA9-E24C-AFE1-C5AB44ADD9D2}" srcId="{E9C575F6-956E-424C-BF18-861148881CA9}" destId="{0CCD1AA3-068C-704F-A8E2-9DF05E1F3421}" srcOrd="2" destOrd="0" parTransId="{2EDE22A9-271D-5149-9CE0-BA696F361341}" sibTransId="{8BCEF077-8D9F-F249-AE0F-653321BAAB5C}"/>
    <dgm:cxn modelId="{6BE873D5-1EBA-FC4A-AEB9-FC50BDC07E3B}" type="presOf" srcId="{49E3492C-5641-0040-B0E2-380C41419D13}" destId="{3E09DDFF-4225-CB48-8D69-018F0E8E8C37}" srcOrd="1" destOrd="0" presId="urn:microsoft.com/office/officeart/2005/8/layout/process2"/>
    <dgm:cxn modelId="{C921FBDD-23F9-9243-A6EF-E1099C0DD916}" type="presOf" srcId="{BB92C8E5-BBE9-094F-9476-C93D16CAABBA}" destId="{DCB8FDE7-7F84-BD41-8807-C39E7847C973}" srcOrd="0" destOrd="0" presId="urn:microsoft.com/office/officeart/2005/8/layout/process2"/>
    <dgm:cxn modelId="{099450E6-D5C5-6041-BF18-9D3BA8751A92}" type="presOf" srcId="{0CCD1AA3-068C-704F-A8E2-9DF05E1F3421}" destId="{6328C9F0-DF55-2B44-AA88-C47C3FD2807D}" srcOrd="0" destOrd="0" presId="urn:microsoft.com/office/officeart/2005/8/layout/process2"/>
    <dgm:cxn modelId="{4D57B3E8-F404-F34A-8B1E-69EA74DAE6F5}" type="presOf" srcId="{04AEE6FB-0529-454F-9043-75AAB1F39D47}" destId="{BD771B1B-72D4-DE45-A3FC-85DF953CFA8C}" srcOrd="1" destOrd="0" presId="urn:microsoft.com/office/officeart/2005/8/layout/process2"/>
    <dgm:cxn modelId="{C7B320EC-C13F-0A40-84A6-FA83B4A2F64C}" type="presOf" srcId="{8DB8C2CE-FF34-5844-B198-D28764B51731}" destId="{4793ED14-575A-F941-BEB8-71F2C7D68AB4}" srcOrd="1" destOrd="0" presId="urn:microsoft.com/office/officeart/2005/8/layout/process2"/>
    <dgm:cxn modelId="{A61639FA-AB5C-6244-866D-080B80A6F11F}" type="presOf" srcId="{5BBA4ECE-04AF-1441-87C3-3B4F6C868D91}" destId="{E4E3428E-7BEC-F24A-A974-A5868E69D7DD}" srcOrd="0" destOrd="0" presId="urn:microsoft.com/office/officeart/2005/8/layout/process2"/>
    <dgm:cxn modelId="{BBA572FE-2003-394F-B31A-DC7B4380E395}" srcId="{E9C575F6-956E-424C-BF18-861148881CA9}" destId="{85B673E6-DF43-D443-96E3-619387016024}" srcOrd="0" destOrd="0" parTransId="{2B2E216A-FF41-7648-A803-DD0310A7ACBC}" sibTransId="{8DB8C2CE-FF34-5844-B198-D28764B51731}"/>
    <dgm:cxn modelId="{FFD18066-3982-334C-B842-9B7DC4F4FD5A}" type="presParOf" srcId="{23775FB1-7D93-AD4C-BC81-D4A3B696D12A}" destId="{4DB1E015-80A7-BF44-A3FE-147227886F24}" srcOrd="0" destOrd="0" presId="urn:microsoft.com/office/officeart/2005/8/layout/process2"/>
    <dgm:cxn modelId="{0BC948AE-FE6F-D140-8D37-5B975A801173}" type="presParOf" srcId="{23775FB1-7D93-AD4C-BC81-D4A3B696D12A}" destId="{73FDBF50-E8E9-A445-B468-DBE906CA9D2A}" srcOrd="1" destOrd="0" presId="urn:microsoft.com/office/officeart/2005/8/layout/process2"/>
    <dgm:cxn modelId="{1319D0FE-6C01-BF40-B3EB-BE7B5D5E924A}" type="presParOf" srcId="{73FDBF50-E8E9-A445-B468-DBE906CA9D2A}" destId="{4793ED14-575A-F941-BEB8-71F2C7D68AB4}" srcOrd="0" destOrd="0" presId="urn:microsoft.com/office/officeart/2005/8/layout/process2"/>
    <dgm:cxn modelId="{C7FF943E-495C-DE43-8986-BC6E413B8E6D}" type="presParOf" srcId="{23775FB1-7D93-AD4C-BC81-D4A3B696D12A}" destId="{F3EAE146-C824-EB47-BE93-6CC95E24A5E1}" srcOrd="2" destOrd="0" presId="urn:microsoft.com/office/officeart/2005/8/layout/process2"/>
    <dgm:cxn modelId="{A421D8B4-E496-BB44-9AEE-33539594E11D}" type="presParOf" srcId="{23775FB1-7D93-AD4C-BC81-D4A3B696D12A}" destId="{CE0C7770-D928-624D-AAEC-1121DC50449B}" srcOrd="3" destOrd="0" presId="urn:microsoft.com/office/officeart/2005/8/layout/process2"/>
    <dgm:cxn modelId="{0BDE585A-A038-D645-B396-C5A62B4FD049}" type="presParOf" srcId="{CE0C7770-D928-624D-AAEC-1121DC50449B}" destId="{7C5C3099-9597-7142-834B-DF519DEC992B}" srcOrd="0" destOrd="0" presId="urn:microsoft.com/office/officeart/2005/8/layout/process2"/>
    <dgm:cxn modelId="{E97BEF70-3D51-F843-862E-D9FD32220848}" type="presParOf" srcId="{23775FB1-7D93-AD4C-BC81-D4A3B696D12A}" destId="{6328C9F0-DF55-2B44-AA88-C47C3FD2807D}" srcOrd="4" destOrd="0" presId="urn:microsoft.com/office/officeart/2005/8/layout/process2"/>
    <dgm:cxn modelId="{5BEB349F-65E7-F24C-AE19-458A1F8E4418}" type="presParOf" srcId="{23775FB1-7D93-AD4C-BC81-D4A3B696D12A}" destId="{0755BF78-222B-2746-BADC-A3AD17A4305E}" srcOrd="5" destOrd="0" presId="urn:microsoft.com/office/officeart/2005/8/layout/process2"/>
    <dgm:cxn modelId="{4DBDC384-28AD-C545-9CE4-FC8EDA9ED84D}" type="presParOf" srcId="{0755BF78-222B-2746-BADC-A3AD17A4305E}" destId="{55607A2D-EDCC-B54C-A0AC-A6CF858917DB}" srcOrd="0" destOrd="0" presId="urn:microsoft.com/office/officeart/2005/8/layout/process2"/>
    <dgm:cxn modelId="{651ECA29-C389-FE4A-9ABC-3155891D87B9}" type="presParOf" srcId="{23775FB1-7D93-AD4C-BC81-D4A3B696D12A}" destId="{DCB8FDE7-7F84-BD41-8807-C39E7847C973}" srcOrd="6" destOrd="0" presId="urn:microsoft.com/office/officeart/2005/8/layout/process2"/>
    <dgm:cxn modelId="{D4AE6041-E23B-8343-A024-08EE412912E6}" type="presParOf" srcId="{23775FB1-7D93-AD4C-BC81-D4A3B696D12A}" destId="{E05E62C6-6D98-7446-9D31-B18250196871}" srcOrd="7" destOrd="0" presId="urn:microsoft.com/office/officeart/2005/8/layout/process2"/>
    <dgm:cxn modelId="{B71CD1A9-0F85-284C-BA2F-BFD6A54EE203}" type="presParOf" srcId="{E05E62C6-6D98-7446-9D31-B18250196871}" destId="{BD771B1B-72D4-DE45-A3FC-85DF953CFA8C}" srcOrd="0" destOrd="0" presId="urn:microsoft.com/office/officeart/2005/8/layout/process2"/>
    <dgm:cxn modelId="{E0579CCF-4DD9-F74B-A904-79785EC066EA}" type="presParOf" srcId="{23775FB1-7D93-AD4C-BC81-D4A3B696D12A}" destId="{E4E3428E-7BEC-F24A-A974-A5868E69D7DD}" srcOrd="8" destOrd="0" presId="urn:microsoft.com/office/officeart/2005/8/layout/process2"/>
    <dgm:cxn modelId="{B25C2C8B-FCED-1646-99DD-08053FD35110}" type="presParOf" srcId="{23775FB1-7D93-AD4C-BC81-D4A3B696D12A}" destId="{D796963C-8F2A-2A45-A938-F3BF14287B35}" srcOrd="9" destOrd="0" presId="urn:microsoft.com/office/officeart/2005/8/layout/process2"/>
    <dgm:cxn modelId="{BEB8EC5E-4755-C947-BE59-9B50672F2CE1}" type="presParOf" srcId="{D796963C-8F2A-2A45-A938-F3BF14287B35}" destId="{3E09DDFF-4225-CB48-8D69-018F0E8E8C37}" srcOrd="0" destOrd="0" presId="urn:microsoft.com/office/officeart/2005/8/layout/process2"/>
    <dgm:cxn modelId="{8AB18C01-79A9-5947-A955-461FF0C9820A}" type="presParOf" srcId="{23775FB1-7D93-AD4C-BC81-D4A3B696D12A}" destId="{C0113F39-6FD0-4B45-A3F9-6096250084F9}" srcOrd="10" destOrd="0" presId="urn:microsoft.com/office/officeart/2005/8/layout/process2"/>
    <dgm:cxn modelId="{DFA4722E-AFF5-4E42-9C35-82B80FB2269C}" type="presParOf" srcId="{23775FB1-7D93-AD4C-BC81-D4A3B696D12A}" destId="{133C39D1-2434-1144-83EB-7A1D969579F3}" srcOrd="11" destOrd="0" presId="urn:microsoft.com/office/officeart/2005/8/layout/process2"/>
    <dgm:cxn modelId="{800110DE-CECA-B347-88CE-7F5C4CAF7FDF}" type="presParOf" srcId="{133C39D1-2434-1144-83EB-7A1D969579F3}" destId="{6A9FFDA0-2978-2C43-A021-4F37DE00CAF9}" srcOrd="0" destOrd="0" presId="urn:microsoft.com/office/officeart/2005/8/layout/process2"/>
    <dgm:cxn modelId="{1D9BADAC-80C0-7D4F-8002-F1EDADEDA53A}" type="presParOf" srcId="{23775FB1-7D93-AD4C-BC81-D4A3B696D12A}" destId="{01AEC4D7-1D81-AE40-A5D0-41793689DFAD}" srcOrd="12" destOrd="0" presId="urn:microsoft.com/office/officeart/2005/8/layout/process2"/>
    <dgm:cxn modelId="{52039CD1-EEE8-B84E-AC9C-6603142AF078}" type="presParOf" srcId="{23775FB1-7D93-AD4C-BC81-D4A3B696D12A}" destId="{E28CFEC2-228E-1A4B-9C57-3CE32F4A5E9C}" srcOrd="13" destOrd="0" presId="urn:microsoft.com/office/officeart/2005/8/layout/process2"/>
    <dgm:cxn modelId="{CEA9D43C-2989-5E48-9B72-75B9CB80AD55}" type="presParOf" srcId="{E28CFEC2-228E-1A4B-9C57-3CE32F4A5E9C}" destId="{BDC074EE-6D90-6643-A6B0-88E7B3D40BD6}" srcOrd="0" destOrd="0" presId="urn:microsoft.com/office/officeart/2005/8/layout/process2"/>
    <dgm:cxn modelId="{87A1E7FC-6139-0E44-90A9-5DAC22E3A543}" type="presParOf" srcId="{23775FB1-7D93-AD4C-BC81-D4A3B696D12A}" destId="{AD01BE72-E466-DB40-9E5A-3E1F9C13EFCC}" srcOrd="14" destOrd="0" presId="urn:microsoft.com/office/officeart/2005/8/layout/process2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E9C575F6-956E-424C-BF18-861148881CA9}" type="doc">
      <dgm:prSet loTypeId="urn:microsoft.com/office/officeart/2005/8/layout/process2" loCatId="" qsTypeId="urn:microsoft.com/office/officeart/2005/8/quickstyle/simple1" qsCatId="simple" csTypeId="urn:microsoft.com/office/officeart/2005/8/colors/accent1_2" csCatId="accent1" phldr="1"/>
      <dgm:spPr/>
    </dgm:pt>
    <dgm:pt modelId="{85B673E6-DF43-D443-96E3-619387016024}">
      <dgm:prSet phldrT="[Text]" custT="1"/>
      <dgm:spPr>
        <a:blipFill>
          <a:blip xmlns:r="http://schemas.openxmlformats.org/officeDocument/2006/relationships" r:embed="rId1"/>
          <a:stretch>
            <a:fillRect/>
          </a:stretch>
        </a:blipFill>
        <a:ln w="50800">
          <a:solidFill>
            <a:schemeClr val="tx1"/>
          </a:solidFill>
        </a:ln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2B2E216A-FF41-7648-A803-DD0310A7ACBC}" type="parTrans" cxnId="{BBA572FE-2003-394F-B31A-DC7B4380E395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DB8C2CE-FF34-5844-B198-D28764B51731}" type="sibTrans" cxnId="{BBA572FE-2003-394F-B31A-DC7B4380E395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en-US" sz="2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93F2BB4-45DB-2941-90DB-EA3E4318EB09}">
      <dgm:prSet phldrT="[Text]" custT="1"/>
      <dgm:spPr>
        <a:blipFill>
          <a:blip xmlns:r="http://schemas.openxmlformats.org/officeDocument/2006/relationships" r:embed="rId2"/>
          <a:stretch>
            <a:fillRect/>
          </a:stretch>
        </a:blipFill>
        <a:ln w="50800">
          <a:solidFill>
            <a:schemeClr val="tx1"/>
          </a:solidFill>
        </a:ln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16E952D0-09A7-A947-B929-C6826167C8E1}" type="parTrans" cxnId="{372F707D-5341-1A4C-A0C5-AABBB2F521E7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90750F3-A9DA-2A4F-8282-A49588C6035F}" type="sibTrans" cxnId="{372F707D-5341-1A4C-A0C5-AABBB2F521E7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en-US" sz="2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CCD1AA3-068C-704F-A8E2-9DF05E1F3421}">
      <dgm:prSet phldrT="[Text]" custT="1"/>
      <dgm:spPr>
        <a:blipFill>
          <a:blip xmlns:r="http://schemas.openxmlformats.org/officeDocument/2006/relationships" r:embed="rId3"/>
          <a:stretch>
            <a:fillRect/>
          </a:stretch>
        </a:blipFill>
        <a:ln w="50800">
          <a:solidFill>
            <a:schemeClr val="tx1"/>
          </a:solidFill>
        </a:ln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2EDE22A9-271D-5149-9CE0-BA696F361341}" type="parTrans" cxnId="{C7C92CD1-9DA9-E24C-AFE1-C5AB44ADD9D2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BCEF077-8D9F-F249-AE0F-653321BAAB5C}" type="sibTrans" cxnId="{C7C92CD1-9DA9-E24C-AFE1-C5AB44ADD9D2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en-US" sz="2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BBA4ECE-04AF-1441-87C3-3B4F6C868D91}">
      <dgm:prSet phldrT="[Text]" custT="1"/>
      <dgm:spPr>
        <a:blipFill>
          <a:blip xmlns:r="http://schemas.openxmlformats.org/officeDocument/2006/relationships" r:embed="rId4"/>
          <a:stretch>
            <a:fillRect/>
          </a:stretch>
        </a:blipFill>
        <a:ln w="50800">
          <a:solidFill>
            <a:schemeClr val="tx1"/>
          </a:solidFill>
        </a:ln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5256336B-4366-6C40-B741-4AB81FEBD444}" type="parTrans" cxnId="{D7DFC227-2014-8F44-9746-30C6DE172D8E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9E3492C-5641-0040-B0E2-380C41419D13}" type="sibTrans" cxnId="{D7DFC227-2014-8F44-9746-30C6DE172D8E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en-US" sz="2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17C856A-6CD6-9543-BE87-A4ECF1229F6C}">
      <dgm:prSet phldrT="[Text]" custT="1"/>
      <dgm:spPr>
        <a:blipFill>
          <a:blip xmlns:r="http://schemas.openxmlformats.org/officeDocument/2006/relationships" r:embed="rId5"/>
          <a:stretch>
            <a:fillRect/>
          </a:stretch>
        </a:blipFill>
        <a:ln w="50800">
          <a:solidFill>
            <a:schemeClr val="tx1"/>
          </a:solidFill>
        </a:ln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FEF1D5A6-FCB1-994C-85F4-0D5744F30742}" type="parTrans" cxnId="{313CA210-8C58-C749-8610-F34F195FDEA5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36B8171-C1DA-F344-85A7-E7FA6578D8AB}" type="sibTrans" cxnId="{313CA210-8C58-C749-8610-F34F195FDEA5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en-US" sz="2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D852677-07EC-9944-B11F-5FEFD30E6CB4}">
      <dgm:prSet phldrT="[Text]" custT="1"/>
      <dgm:spPr>
        <a:solidFill>
          <a:schemeClr val="bg1"/>
        </a:solidFill>
        <a:ln w="50800">
          <a:solidFill>
            <a:schemeClr val="tx1"/>
          </a:solidFill>
        </a:ln>
      </dgm:spPr>
      <dgm:t>
        <a:bodyPr/>
        <a:lstStyle/>
        <a:p>
          <a:r>
            <a:rPr 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Check convergence</a:t>
          </a:r>
          <a:br>
            <a:rPr 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(Energy OR density)</a:t>
          </a:r>
        </a:p>
      </dgm:t>
    </dgm:pt>
    <dgm:pt modelId="{E0A469EA-DD68-EB4C-BEBB-60753BB25E8C}" type="parTrans" cxnId="{730CBEAF-C261-C949-B8F3-72DB56CC17F4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D3A7B29-072C-1C48-AFC3-FB785203026F}" type="sibTrans" cxnId="{730CBEAF-C261-C949-B8F3-72DB56CC17F4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en-US" sz="2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850797D-B63A-D248-99A5-7065AC0F9856}">
      <dgm:prSet phldrT="[Text]" custT="1"/>
      <dgm:spPr>
        <a:solidFill>
          <a:schemeClr val="bg1"/>
        </a:solidFill>
        <a:ln w="50800">
          <a:solidFill>
            <a:schemeClr val="tx1"/>
          </a:solidFill>
        </a:ln>
      </dgm:spPr>
      <dgm:t>
        <a:bodyPr/>
        <a:lstStyle/>
        <a:p>
          <a:r>
            <a:rPr 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SCF Solution</a:t>
          </a:r>
        </a:p>
      </dgm:t>
    </dgm:pt>
    <dgm:pt modelId="{64D420EC-2C67-344B-A406-62EB7680D9C8}" type="parTrans" cxnId="{68D58B07-C666-E847-9ADD-EB6372C56B7E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473ADD1-A106-DC49-BB15-652778D9F150}" type="sibTrans" cxnId="{68D58B07-C666-E847-9ADD-EB6372C56B7E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B92C8E5-BBE9-094F-9476-C93D16CAABBA}">
      <dgm:prSet custT="1"/>
      <dgm:spPr>
        <a:blipFill>
          <a:blip xmlns:r="http://schemas.openxmlformats.org/officeDocument/2006/relationships" r:embed="rId6"/>
          <a:stretch>
            <a:fillRect/>
          </a:stretch>
        </a:blipFill>
        <a:ln w="34925">
          <a:solidFill>
            <a:schemeClr val="tx1"/>
          </a:solidFill>
        </a:ln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34FE9B0B-8A05-0740-B4FC-5838BE61A10B}" type="parTrans" cxnId="{D99627CA-F9E0-8543-873B-21007934056A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4AEE6FB-0529-454F-9043-75AAB1F39D47}" type="sibTrans" cxnId="{D99627CA-F9E0-8543-873B-21007934056A}">
      <dgm:prSet custT="1"/>
      <dgm:spPr>
        <a:solidFill>
          <a:schemeClr val="tx1"/>
        </a:solidFill>
      </dgm:spPr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3775FB1-7D93-AD4C-BC81-D4A3B696D12A}" type="pres">
      <dgm:prSet presAssocID="{E9C575F6-956E-424C-BF18-861148881CA9}" presName="linearFlow" presStyleCnt="0">
        <dgm:presLayoutVars>
          <dgm:resizeHandles val="exact"/>
        </dgm:presLayoutVars>
      </dgm:prSet>
      <dgm:spPr/>
    </dgm:pt>
    <dgm:pt modelId="{4DB1E015-80A7-BF44-A3FE-147227886F24}" type="pres">
      <dgm:prSet presAssocID="{85B673E6-DF43-D443-96E3-619387016024}" presName="node" presStyleLbl="node1" presStyleIdx="0" presStyleCnt="8" custScaleX="334872" custScaleY="312074" custLinFactX="-100000" custLinFactY="99619" custLinFactNeighborX="-128639" custLinFactNeighborY="100000">
        <dgm:presLayoutVars>
          <dgm:bulletEnabled val="1"/>
        </dgm:presLayoutVars>
      </dgm:prSet>
      <dgm:spPr/>
    </dgm:pt>
    <dgm:pt modelId="{73FDBF50-E8E9-A445-B468-DBE906CA9D2A}" type="pres">
      <dgm:prSet presAssocID="{8DB8C2CE-FF34-5844-B198-D28764B51731}" presName="sibTrans" presStyleLbl="sibTrans2D1" presStyleIdx="0" presStyleCnt="7" custScaleX="131684" custScaleY="91554"/>
      <dgm:spPr/>
    </dgm:pt>
    <dgm:pt modelId="{4793ED14-575A-F941-BEB8-71F2C7D68AB4}" type="pres">
      <dgm:prSet presAssocID="{8DB8C2CE-FF34-5844-B198-D28764B51731}" presName="connectorText" presStyleLbl="sibTrans2D1" presStyleIdx="0" presStyleCnt="7"/>
      <dgm:spPr/>
    </dgm:pt>
    <dgm:pt modelId="{F3EAE146-C824-EB47-BE93-6CC95E24A5E1}" type="pres">
      <dgm:prSet presAssocID="{593F2BB4-45DB-2941-90DB-EA3E4318EB09}" presName="node" presStyleLbl="node1" presStyleIdx="1" presStyleCnt="8" custScaleX="417537" custScaleY="312074" custLinFactX="100000" custLinFactY="-107666" custLinFactNeighborX="129282" custLinFactNeighborY="-200000">
        <dgm:presLayoutVars>
          <dgm:bulletEnabled val="1"/>
        </dgm:presLayoutVars>
      </dgm:prSet>
      <dgm:spPr/>
    </dgm:pt>
    <dgm:pt modelId="{CE0C7770-D928-624D-AAEC-1121DC50449B}" type="pres">
      <dgm:prSet presAssocID="{490750F3-A9DA-2A4F-8282-A49588C6035F}" presName="sibTrans" presStyleLbl="sibTrans2D1" presStyleIdx="1" presStyleCnt="7" custScaleX="131684" custScaleY="91554"/>
      <dgm:spPr/>
    </dgm:pt>
    <dgm:pt modelId="{7C5C3099-9597-7142-834B-DF519DEC992B}" type="pres">
      <dgm:prSet presAssocID="{490750F3-A9DA-2A4F-8282-A49588C6035F}" presName="connectorText" presStyleLbl="sibTrans2D1" presStyleIdx="1" presStyleCnt="7"/>
      <dgm:spPr/>
    </dgm:pt>
    <dgm:pt modelId="{6328C9F0-DF55-2B44-AA88-C47C3FD2807D}" type="pres">
      <dgm:prSet presAssocID="{0CCD1AA3-068C-704F-A8E2-9DF05E1F3421}" presName="node" presStyleLbl="node1" presStyleIdx="2" presStyleCnt="8" custScaleX="405257" custScaleY="312074" custLinFactX="100000" custLinFactY="-100000" custLinFactNeighborX="129282" custLinFactNeighborY="-154947">
        <dgm:presLayoutVars>
          <dgm:bulletEnabled val="1"/>
        </dgm:presLayoutVars>
      </dgm:prSet>
      <dgm:spPr/>
    </dgm:pt>
    <dgm:pt modelId="{0755BF78-222B-2746-BADC-A3AD17A4305E}" type="pres">
      <dgm:prSet presAssocID="{8BCEF077-8D9F-F249-AE0F-653321BAAB5C}" presName="sibTrans" presStyleLbl="sibTrans2D1" presStyleIdx="2" presStyleCnt="7" custScaleX="131684" custScaleY="91554"/>
      <dgm:spPr/>
    </dgm:pt>
    <dgm:pt modelId="{55607A2D-EDCC-B54C-A0AC-A6CF858917DB}" type="pres">
      <dgm:prSet presAssocID="{8BCEF077-8D9F-F249-AE0F-653321BAAB5C}" presName="connectorText" presStyleLbl="sibTrans2D1" presStyleIdx="2" presStyleCnt="7"/>
      <dgm:spPr/>
    </dgm:pt>
    <dgm:pt modelId="{DCB8FDE7-7F84-BD41-8807-C39E7847C973}" type="pres">
      <dgm:prSet presAssocID="{BB92C8E5-BBE9-094F-9476-C93D16CAABBA}" presName="node" presStyleLbl="node1" presStyleIdx="3" presStyleCnt="8" custScaleX="421439" custScaleY="306502" custLinFactX="100000" custLinFactY="-75074" custLinFactNeighborX="135458" custLinFactNeighborY="-100000">
        <dgm:presLayoutVars>
          <dgm:bulletEnabled val="1"/>
        </dgm:presLayoutVars>
      </dgm:prSet>
      <dgm:spPr/>
    </dgm:pt>
    <dgm:pt modelId="{E05E62C6-6D98-7446-9D31-B18250196871}" type="pres">
      <dgm:prSet presAssocID="{04AEE6FB-0529-454F-9043-75AAB1F39D47}" presName="sibTrans" presStyleLbl="sibTrans2D1" presStyleIdx="3" presStyleCnt="7"/>
      <dgm:spPr/>
    </dgm:pt>
    <dgm:pt modelId="{BD771B1B-72D4-DE45-A3FC-85DF953CFA8C}" type="pres">
      <dgm:prSet presAssocID="{04AEE6FB-0529-454F-9043-75AAB1F39D47}" presName="connectorText" presStyleLbl="sibTrans2D1" presStyleIdx="3" presStyleCnt="7"/>
      <dgm:spPr/>
    </dgm:pt>
    <dgm:pt modelId="{E4E3428E-7BEC-F24A-A974-A5868E69D7DD}" type="pres">
      <dgm:prSet presAssocID="{5BBA4ECE-04AF-1441-87C3-3B4F6C868D91}" presName="node" presStyleLbl="node1" presStyleIdx="4" presStyleCnt="8" custScaleX="549148" custScaleY="424897" custLinFactX="100000" custLinFactNeighborX="129282" custLinFactNeighborY="-95952">
        <dgm:presLayoutVars>
          <dgm:bulletEnabled val="1"/>
        </dgm:presLayoutVars>
      </dgm:prSet>
      <dgm:spPr/>
    </dgm:pt>
    <dgm:pt modelId="{D796963C-8F2A-2A45-A938-F3BF14287B35}" type="pres">
      <dgm:prSet presAssocID="{49E3492C-5641-0040-B0E2-380C41419D13}" presName="sibTrans" presStyleLbl="sibTrans2D1" presStyleIdx="4" presStyleCnt="7" custScaleX="131684" custScaleY="91554"/>
      <dgm:spPr/>
    </dgm:pt>
    <dgm:pt modelId="{3E09DDFF-4225-CB48-8D69-018F0E8E8C37}" type="pres">
      <dgm:prSet presAssocID="{49E3492C-5641-0040-B0E2-380C41419D13}" presName="connectorText" presStyleLbl="sibTrans2D1" presStyleIdx="4" presStyleCnt="7"/>
      <dgm:spPr/>
    </dgm:pt>
    <dgm:pt modelId="{C0113F39-6FD0-4B45-A3F9-6096250084F9}" type="pres">
      <dgm:prSet presAssocID="{817C856A-6CD6-9543-BE87-A4ECF1229F6C}" presName="node" presStyleLbl="node1" presStyleIdx="5" presStyleCnt="8" custScaleX="420732" custScaleY="380016" custLinFactX="100000" custLinFactNeighborX="129282" custLinFactNeighborY="85514">
        <dgm:presLayoutVars>
          <dgm:bulletEnabled val="1"/>
        </dgm:presLayoutVars>
      </dgm:prSet>
      <dgm:spPr/>
    </dgm:pt>
    <dgm:pt modelId="{133C39D1-2434-1144-83EB-7A1D969579F3}" type="pres">
      <dgm:prSet presAssocID="{036B8171-C1DA-F344-85A7-E7FA6578D8AB}" presName="sibTrans" presStyleLbl="sibTrans2D1" presStyleIdx="5" presStyleCnt="7" custScaleX="131684" custScaleY="91554"/>
      <dgm:spPr/>
    </dgm:pt>
    <dgm:pt modelId="{6A9FFDA0-2978-2C43-A021-4F37DE00CAF9}" type="pres">
      <dgm:prSet presAssocID="{036B8171-C1DA-F344-85A7-E7FA6578D8AB}" presName="connectorText" presStyleLbl="sibTrans2D1" presStyleIdx="5" presStyleCnt="7"/>
      <dgm:spPr/>
    </dgm:pt>
    <dgm:pt modelId="{01AEC4D7-1D81-AE40-A5D0-41793689DFAD}" type="pres">
      <dgm:prSet presAssocID="{AD852677-07EC-9944-B11F-5FEFD30E6CB4}" presName="node" presStyleLbl="node1" presStyleIdx="6" presStyleCnt="8" custScaleX="408668" custScaleY="312074" custLinFactX="100000" custLinFactY="89988" custLinFactNeighborX="129282" custLinFactNeighborY="100000">
        <dgm:presLayoutVars>
          <dgm:bulletEnabled val="1"/>
        </dgm:presLayoutVars>
      </dgm:prSet>
      <dgm:spPr/>
    </dgm:pt>
    <dgm:pt modelId="{E28CFEC2-228E-1A4B-9C57-3CE32F4A5E9C}" type="pres">
      <dgm:prSet presAssocID="{ED3A7B29-072C-1C48-AFC3-FB785203026F}" presName="sibTrans" presStyleLbl="sibTrans2D1" presStyleIdx="6" presStyleCnt="7" custScaleX="131684" custScaleY="91554"/>
      <dgm:spPr/>
    </dgm:pt>
    <dgm:pt modelId="{BDC074EE-6D90-6643-A6B0-88E7B3D40BD6}" type="pres">
      <dgm:prSet presAssocID="{ED3A7B29-072C-1C48-AFC3-FB785203026F}" presName="connectorText" presStyleLbl="sibTrans2D1" presStyleIdx="6" presStyleCnt="7"/>
      <dgm:spPr/>
    </dgm:pt>
    <dgm:pt modelId="{AD01BE72-E466-DB40-9E5A-3E1F9C13EFCC}" type="pres">
      <dgm:prSet presAssocID="{C850797D-B63A-D248-99A5-7065AC0F9856}" presName="node" presStyleLbl="node1" presStyleIdx="7" presStyleCnt="8" custScaleX="334872" custScaleY="312074" custLinFactX="-100000" custLinFactY="-109502" custLinFactNeighborX="-145882" custLinFactNeighborY="-200000">
        <dgm:presLayoutVars>
          <dgm:bulletEnabled val="1"/>
        </dgm:presLayoutVars>
      </dgm:prSet>
      <dgm:spPr/>
    </dgm:pt>
  </dgm:ptLst>
  <dgm:cxnLst>
    <dgm:cxn modelId="{68D58B07-C666-E847-9ADD-EB6372C56B7E}" srcId="{E9C575F6-956E-424C-BF18-861148881CA9}" destId="{C850797D-B63A-D248-99A5-7065AC0F9856}" srcOrd="7" destOrd="0" parTransId="{64D420EC-2C67-344B-A406-62EB7680D9C8}" sibTransId="{8473ADD1-A106-DC49-BB15-652778D9F150}"/>
    <dgm:cxn modelId="{313CA210-8C58-C749-8610-F34F195FDEA5}" srcId="{E9C575F6-956E-424C-BF18-861148881CA9}" destId="{817C856A-6CD6-9543-BE87-A4ECF1229F6C}" srcOrd="5" destOrd="0" parTransId="{FEF1D5A6-FCB1-994C-85F4-0D5744F30742}" sibTransId="{036B8171-C1DA-F344-85A7-E7FA6578D8AB}"/>
    <dgm:cxn modelId="{2576B51D-A818-9843-9F99-81F834A6327A}" type="presOf" srcId="{E9C575F6-956E-424C-BF18-861148881CA9}" destId="{23775FB1-7D93-AD4C-BC81-D4A3B696D12A}" srcOrd="0" destOrd="0" presId="urn:microsoft.com/office/officeart/2005/8/layout/process2"/>
    <dgm:cxn modelId="{76DA1820-8074-8446-B2EC-DFE7FC55BC8D}" type="presOf" srcId="{8BCEF077-8D9F-F249-AE0F-653321BAAB5C}" destId="{0755BF78-222B-2746-BADC-A3AD17A4305E}" srcOrd="0" destOrd="0" presId="urn:microsoft.com/office/officeart/2005/8/layout/process2"/>
    <dgm:cxn modelId="{D7DFC227-2014-8F44-9746-30C6DE172D8E}" srcId="{E9C575F6-956E-424C-BF18-861148881CA9}" destId="{5BBA4ECE-04AF-1441-87C3-3B4F6C868D91}" srcOrd="4" destOrd="0" parTransId="{5256336B-4366-6C40-B741-4AB81FEBD444}" sibTransId="{49E3492C-5641-0040-B0E2-380C41419D13}"/>
    <dgm:cxn modelId="{AAD0E638-D5C0-2948-9B52-9C6F815A3126}" type="presOf" srcId="{85B673E6-DF43-D443-96E3-619387016024}" destId="{4DB1E015-80A7-BF44-A3FE-147227886F24}" srcOrd="0" destOrd="0" presId="urn:microsoft.com/office/officeart/2005/8/layout/process2"/>
    <dgm:cxn modelId="{6A30833C-8A12-7D40-8315-77E1C6B57C58}" type="presOf" srcId="{04AEE6FB-0529-454F-9043-75AAB1F39D47}" destId="{E05E62C6-6D98-7446-9D31-B18250196871}" srcOrd="0" destOrd="0" presId="urn:microsoft.com/office/officeart/2005/8/layout/process2"/>
    <dgm:cxn modelId="{7914E940-82BB-CB42-974F-CA8607A126FF}" type="presOf" srcId="{ED3A7B29-072C-1C48-AFC3-FB785203026F}" destId="{E28CFEC2-228E-1A4B-9C57-3CE32F4A5E9C}" srcOrd="0" destOrd="0" presId="urn:microsoft.com/office/officeart/2005/8/layout/process2"/>
    <dgm:cxn modelId="{6765F54D-EC0A-6644-B227-537E16852407}" type="presOf" srcId="{ED3A7B29-072C-1C48-AFC3-FB785203026F}" destId="{BDC074EE-6D90-6643-A6B0-88E7B3D40BD6}" srcOrd="1" destOrd="0" presId="urn:microsoft.com/office/officeart/2005/8/layout/process2"/>
    <dgm:cxn modelId="{9184B863-57EA-B144-ACF2-6A457EF9C8DE}" type="presOf" srcId="{817C856A-6CD6-9543-BE87-A4ECF1229F6C}" destId="{C0113F39-6FD0-4B45-A3F9-6096250084F9}" srcOrd="0" destOrd="0" presId="urn:microsoft.com/office/officeart/2005/8/layout/process2"/>
    <dgm:cxn modelId="{3AAC3F6E-07D5-674B-AA4C-6E1685B6FC37}" type="presOf" srcId="{593F2BB4-45DB-2941-90DB-EA3E4318EB09}" destId="{F3EAE146-C824-EB47-BE93-6CC95E24A5E1}" srcOrd="0" destOrd="0" presId="urn:microsoft.com/office/officeart/2005/8/layout/process2"/>
    <dgm:cxn modelId="{FBC1C077-F5BF-5245-B5AA-709B08C48795}" type="presOf" srcId="{49E3492C-5641-0040-B0E2-380C41419D13}" destId="{D796963C-8F2A-2A45-A938-F3BF14287B35}" srcOrd="0" destOrd="0" presId="urn:microsoft.com/office/officeart/2005/8/layout/process2"/>
    <dgm:cxn modelId="{372F707D-5341-1A4C-A0C5-AABBB2F521E7}" srcId="{E9C575F6-956E-424C-BF18-861148881CA9}" destId="{593F2BB4-45DB-2941-90DB-EA3E4318EB09}" srcOrd="1" destOrd="0" parTransId="{16E952D0-09A7-A947-B929-C6826167C8E1}" sibTransId="{490750F3-A9DA-2A4F-8282-A49588C6035F}"/>
    <dgm:cxn modelId="{FB1C2686-2F40-804D-AB9B-FD783CCCB01D}" type="presOf" srcId="{490750F3-A9DA-2A4F-8282-A49588C6035F}" destId="{7C5C3099-9597-7142-834B-DF519DEC992B}" srcOrd="1" destOrd="0" presId="urn:microsoft.com/office/officeart/2005/8/layout/process2"/>
    <dgm:cxn modelId="{DBEAAD97-0A5D-9A4A-A6F4-6204ADA6B073}" type="presOf" srcId="{036B8171-C1DA-F344-85A7-E7FA6578D8AB}" destId="{133C39D1-2434-1144-83EB-7A1D969579F3}" srcOrd="0" destOrd="0" presId="urn:microsoft.com/office/officeart/2005/8/layout/process2"/>
    <dgm:cxn modelId="{984CCE9A-377B-7C47-B705-FB99BFAE4037}" type="presOf" srcId="{8BCEF077-8D9F-F249-AE0F-653321BAAB5C}" destId="{55607A2D-EDCC-B54C-A0AC-A6CF858917DB}" srcOrd="1" destOrd="0" presId="urn:microsoft.com/office/officeart/2005/8/layout/process2"/>
    <dgm:cxn modelId="{535D559C-4793-A848-915C-1A04DF40C9DB}" type="presOf" srcId="{8DB8C2CE-FF34-5844-B198-D28764B51731}" destId="{73FDBF50-E8E9-A445-B468-DBE906CA9D2A}" srcOrd="0" destOrd="0" presId="urn:microsoft.com/office/officeart/2005/8/layout/process2"/>
    <dgm:cxn modelId="{2F68F29E-04F9-F441-9303-156A00D87FBE}" type="presOf" srcId="{AD852677-07EC-9944-B11F-5FEFD30E6CB4}" destId="{01AEC4D7-1D81-AE40-A5D0-41793689DFAD}" srcOrd="0" destOrd="0" presId="urn:microsoft.com/office/officeart/2005/8/layout/process2"/>
    <dgm:cxn modelId="{D042BEA6-9E61-1441-B54E-CF8F234675CF}" type="presOf" srcId="{C850797D-B63A-D248-99A5-7065AC0F9856}" destId="{AD01BE72-E466-DB40-9E5A-3E1F9C13EFCC}" srcOrd="0" destOrd="0" presId="urn:microsoft.com/office/officeart/2005/8/layout/process2"/>
    <dgm:cxn modelId="{730CBEAF-C261-C949-B8F3-72DB56CC17F4}" srcId="{E9C575F6-956E-424C-BF18-861148881CA9}" destId="{AD852677-07EC-9944-B11F-5FEFD30E6CB4}" srcOrd="6" destOrd="0" parTransId="{E0A469EA-DD68-EB4C-BEBB-60753BB25E8C}" sibTransId="{ED3A7B29-072C-1C48-AFC3-FB785203026F}"/>
    <dgm:cxn modelId="{42CE12BA-B408-A845-880A-CB967A87020D}" type="presOf" srcId="{490750F3-A9DA-2A4F-8282-A49588C6035F}" destId="{CE0C7770-D928-624D-AAEC-1121DC50449B}" srcOrd="0" destOrd="0" presId="urn:microsoft.com/office/officeart/2005/8/layout/process2"/>
    <dgm:cxn modelId="{280F02C0-C587-C944-8150-C3E8DA0E429C}" type="presOf" srcId="{036B8171-C1DA-F344-85A7-E7FA6578D8AB}" destId="{6A9FFDA0-2978-2C43-A021-4F37DE00CAF9}" srcOrd="1" destOrd="0" presId="urn:microsoft.com/office/officeart/2005/8/layout/process2"/>
    <dgm:cxn modelId="{D99627CA-F9E0-8543-873B-21007934056A}" srcId="{E9C575F6-956E-424C-BF18-861148881CA9}" destId="{BB92C8E5-BBE9-094F-9476-C93D16CAABBA}" srcOrd="3" destOrd="0" parTransId="{34FE9B0B-8A05-0740-B4FC-5838BE61A10B}" sibTransId="{04AEE6FB-0529-454F-9043-75AAB1F39D47}"/>
    <dgm:cxn modelId="{C7C92CD1-9DA9-E24C-AFE1-C5AB44ADD9D2}" srcId="{E9C575F6-956E-424C-BF18-861148881CA9}" destId="{0CCD1AA3-068C-704F-A8E2-9DF05E1F3421}" srcOrd="2" destOrd="0" parTransId="{2EDE22A9-271D-5149-9CE0-BA696F361341}" sibTransId="{8BCEF077-8D9F-F249-AE0F-653321BAAB5C}"/>
    <dgm:cxn modelId="{6BE873D5-1EBA-FC4A-AEB9-FC50BDC07E3B}" type="presOf" srcId="{49E3492C-5641-0040-B0E2-380C41419D13}" destId="{3E09DDFF-4225-CB48-8D69-018F0E8E8C37}" srcOrd="1" destOrd="0" presId="urn:microsoft.com/office/officeart/2005/8/layout/process2"/>
    <dgm:cxn modelId="{C921FBDD-23F9-9243-A6EF-E1099C0DD916}" type="presOf" srcId="{BB92C8E5-BBE9-094F-9476-C93D16CAABBA}" destId="{DCB8FDE7-7F84-BD41-8807-C39E7847C973}" srcOrd="0" destOrd="0" presId="urn:microsoft.com/office/officeart/2005/8/layout/process2"/>
    <dgm:cxn modelId="{099450E6-D5C5-6041-BF18-9D3BA8751A92}" type="presOf" srcId="{0CCD1AA3-068C-704F-A8E2-9DF05E1F3421}" destId="{6328C9F0-DF55-2B44-AA88-C47C3FD2807D}" srcOrd="0" destOrd="0" presId="urn:microsoft.com/office/officeart/2005/8/layout/process2"/>
    <dgm:cxn modelId="{4D57B3E8-F404-F34A-8B1E-69EA74DAE6F5}" type="presOf" srcId="{04AEE6FB-0529-454F-9043-75AAB1F39D47}" destId="{BD771B1B-72D4-DE45-A3FC-85DF953CFA8C}" srcOrd="1" destOrd="0" presId="urn:microsoft.com/office/officeart/2005/8/layout/process2"/>
    <dgm:cxn modelId="{C7B320EC-C13F-0A40-84A6-FA83B4A2F64C}" type="presOf" srcId="{8DB8C2CE-FF34-5844-B198-D28764B51731}" destId="{4793ED14-575A-F941-BEB8-71F2C7D68AB4}" srcOrd="1" destOrd="0" presId="urn:microsoft.com/office/officeart/2005/8/layout/process2"/>
    <dgm:cxn modelId="{A61639FA-AB5C-6244-866D-080B80A6F11F}" type="presOf" srcId="{5BBA4ECE-04AF-1441-87C3-3B4F6C868D91}" destId="{E4E3428E-7BEC-F24A-A974-A5868E69D7DD}" srcOrd="0" destOrd="0" presId="urn:microsoft.com/office/officeart/2005/8/layout/process2"/>
    <dgm:cxn modelId="{BBA572FE-2003-394F-B31A-DC7B4380E395}" srcId="{E9C575F6-956E-424C-BF18-861148881CA9}" destId="{85B673E6-DF43-D443-96E3-619387016024}" srcOrd="0" destOrd="0" parTransId="{2B2E216A-FF41-7648-A803-DD0310A7ACBC}" sibTransId="{8DB8C2CE-FF34-5844-B198-D28764B51731}"/>
    <dgm:cxn modelId="{FFD18066-3982-334C-B842-9B7DC4F4FD5A}" type="presParOf" srcId="{23775FB1-7D93-AD4C-BC81-D4A3B696D12A}" destId="{4DB1E015-80A7-BF44-A3FE-147227886F24}" srcOrd="0" destOrd="0" presId="urn:microsoft.com/office/officeart/2005/8/layout/process2"/>
    <dgm:cxn modelId="{0BC948AE-FE6F-D140-8D37-5B975A801173}" type="presParOf" srcId="{23775FB1-7D93-AD4C-BC81-D4A3B696D12A}" destId="{73FDBF50-E8E9-A445-B468-DBE906CA9D2A}" srcOrd="1" destOrd="0" presId="urn:microsoft.com/office/officeart/2005/8/layout/process2"/>
    <dgm:cxn modelId="{1319D0FE-6C01-BF40-B3EB-BE7B5D5E924A}" type="presParOf" srcId="{73FDBF50-E8E9-A445-B468-DBE906CA9D2A}" destId="{4793ED14-575A-F941-BEB8-71F2C7D68AB4}" srcOrd="0" destOrd="0" presId="urn:microsoft.com/office/officeart/2005/8/layout/process2"/>
    <dgm:cxn modelId="{C7FF943E-495C-DE43-8986-BC6E413B8E6D}" type="presParOf" srcId="{23775FB1-7D93-AD4C-BC81-D4A3B696D12A}" destId="{F3EAE146-C824-EB47-BE93-6CC95E24A5E1}" srcOrd="2" destOrd="0" presId="urn:microsoft.com/office/officeart/2005/8/layout/process2"/>
    <dgm:cxn modelId="{A421D8B4-E496-BB44-9AEE-33539594E11D}" type="presParOf" srcId="{23775FB1-7D93-AD4C-BC81-D4A3B696D12A}" destId="{CE0C7770-D928-624D-AAEC-1121DC50449B}" srcOrd="3" destOrd="0" presId="urn:microsoft.com/office/officeart/2005/8/layout/process2"/>
    <dgm:cxn modelId="{0BDE585A-A038-D645-B396-C5A62B4FD049}" type="presParOf" srcId="{CE0C7770-D928-624D-AAEC-1121DC50449B}" destId="{7C5C3099-9597-7142-834B-DF519DEC992B}" srcOrd="0" destOrd="0" presId="urn:microsoft.com/office/officeart/2005/8/layout/process2"/>
    <dgm:cxn modelId="{E97BEF70-3D51-F843-862E-D9FD32220848}" type="presParOf" srcId="{23775FB1-7D93-AD4C-BC81-D4A3B696D12A}" destId="{6328C9F0-DF55-2B44-AA88-C47C3FD2807D}" srcOrd="4" destOrd="0" presId="urn:microsoft.com/office/officeart/2005/8/layout/process2"/>
    <dgm:cxn modelId="{5BEB349F-65E7-F24C-AE19-458A1F8E4418}" type="presParOf" srcId="{23775FB1-7D93-AD4C-BC81-D4A3B696D12A}" destId="{0755BF78-222B-2746-BADC-A3AD17A4305E}" srcOrd="5" destOrd="0" presId="urn:microsoft.com/office/officeart/2005/8/layout/process2"/>
    <dgm:cxn modelId="{4DBDC384-28AD-C545-9CE4-FC8EDA9ED84D}" type="presParOf" srcId="{0755BF78-222B-2746-BADC-A3AD17A4305E}" destId="{55607A2D-EDCC-B54C-A0AC-A6CF858917DB}" srcOrd="0" destOrd="0" presId="urn:microsoft.com/office/officeart/2005/8/layout/process2"/>
    <dgm:cxn modelId="{651ECA29-C389-FE4A-9ABC-3155891D87B9}" type="presParOf" srcId="{23775FB1-7D93-AD4C-BC81-D4A3B696D12A}" destId="{DCB8FDE7-7F84-BD41-8807-C39E7847C973}" srcOrd="6" destOrd="0" presId="urn:microsoft.com/office/officeart/2005/8/layout/process2"/>
    <dgm:cxn modelId="{D4AE6041-E23B-8343-A024-08EE412912E6}" type="presParOf" srcId="{23775FB1-7D93-AD4C-BC81-D4A3B696D12A}" destId="{E05E62C6-6D98-7446-9D31-B18250196871}" srcOrd="7" destOrd="0" presId="urn:microsoft.com/office/officeart/2005/8/layout/process2"/>
    <dgm:cxn modelId="{B71CD1A9-0F85-284C-BA2F-BFD6A54EE203}" type="presParOf" srcId="{E05E62C6-6D98-7446-9D31-B18250196871}" destId="{BD771B1B-72D4-DE45-A3FC-85DF953CFA8C}" srcOrd="0" destOrd="0" presId="urn:microsoft.com/office/officeart/2005/8/layout/process2"/>
    <dgm:cxn modelId="{E0579CCF-4DD9-F74B-A904-79785EC066EA}" type="presParOf" srcId="{23775FB1-7D93-AD4C-BC81-D4A3B696D12A}" destId="{E4E3428E-7BEC-F24A-A974-A5868E69D7DD}" srcOrd="8" destOrd="0" presId="urn:microsoft.com/office/officeart/2005/8/layout/process2"/>
    <dgm:cxn modelId="{B25C2C8B-FCED-1646-99DD-08053FD35110}" type="presParOf" srcId="{23775FB1-7D93-AD4C-BC81-D4A3B696D12A}" destId="{D796963C-8F2A-2A45-A938-F3BF14287B35}" srcOrd="9" destOrd="0" presId="urn:microsoft.com/office/officeart/2005/8/layout/process2"/>
    <dgm:cxn modelId="{BEB8EC5E-4755-C947-BE59-9B50672F2CE1}" type="presParOf" srcId="{D796963C-8F2A-2A45-A938-F3BF14287B35}" destId="{3E09DDFF-4225-CB48-8D69-018F0E8E8C37}" srcOrd="0" destOrd="0" presId="urn:microsoft.com/office/officeart/2005/8/layout/process2"/>
    <dgm:cxn modelId="{8AB18C01-79A9-5947-A955-461FF0C9820A}" type="presParOf" srcId="{23775FB1-7D93-AD4C-BC81-D4A3B696D12A}" destId="{C0113F39-6FD0-4B45-A3F9-6096250084F9}" srcOrd="10" destOrd="0" presId="urn:microsoft.com/office/officeart/2005/8/layout/process2"/>
    <dgm:cxn modelId="{DFA4722E-AFF5-4E42-9C35-82B80FB2269C}" type="presParOf" srcId="{23775FB1-7D93-AD4C-BC81-D4A3B696D12A}" destId="{133C39D1-2434-1144-83EB-7A1D969579F3}" srcOrd="11" destOrd="0" presId="urn:microsoft.com/office/officeart/2005/8/layout/process2"/>
    <dgm:cxn modelId="{800110DE-CECA-B347-88CE-7F5C4CAF7FDF}" type="presParOf" srcId="{133C39D1-2434-1144-83EB-7A1D969579F3}" destId="{6A9FFDA0-2978-2C43-A021-4F37DE00CAF9}" srcOrd="0" destOrd="0" presId="urn:microsoft.com/office/officeart/2005/8/layout/process2"/>
    <dgm:cxn modelId="{1D9BADAC-80C0-7D4F-8002-F1EDADEDA53A}" type="presParOf" srcId="{23775FB1-7D93-AD4C-BC81-D4A3B696D12A}" destId="{01AEC4D7-1D81-AE40-A5D0-41793689DFAD}" srcOrd="12" destOrd="0" presId="urn:microsoft.com/office/officeart/2005/8/layout/process2"/>
    <dgm:cxn modelId="{52039CD1-EEE8-B84E-AC9C-6603142AF078}" type="presParOf" srcId="{23775FB1-7D93-AD4C-BC81-D4A3B696D12A}" destId="{E28CFEC2-228E-1A4B-9C57-3CE32F4A5E9C}" srcOrd="13" destOrd="0" presId="urn:microsoft.com/office/officeart/2005/8/layout/process2"/>
    <dgm:cxn modelId="{CEA9D43C-2989-5E48-9B72-75B9CB80AD55}" type="presParOf" srcId="{E28CFEC2-228E-1A4B-9C57-3CE32F4A5E9C}" destId="{BDC074EE-6D90-6643-A6B0-88E7B3D40BD6}" srcOrd="0" destOrd="0" presId="urn:microsoft.com/office/officeart/2005/8/layout/process2"/>
    <dgm:cxn modelId="{87A1E7FC-6139-0E44-90A9-5DAC22E3A543}" type="presParOf" srcId="{23775FB1-7D93-AD4C-BC81-D4A3B696D12A}" destId="{AD01BE72-E466-DB40-9E5A-3E1F9C13EFCC}" srcOrd="14" destOrd="0" presId="urn:microsoft.com/office/officeart/2005/8/layout/process2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E04475-1627-9242-B711-5644B503C144}">
      <dsp:nvSpPr>
        <dsp:cNvPr id="0" name=""/>
        <dsp:cNvSpPr/>
      </dsp:nvSpPr>
      <dsp:spPr>
        <a:xfrm>
          <a:off x="0" y="164"/>
          <a:ext cx="6636809" cy="10303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 val="2088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Localized, unitary transformation of Bloch function.</a:t>
          </a:r>
          <a:br>
            <a:rPr lang="en-US" sz="2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endParaRPr lang="en-US" sz="24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0299" y="50463"/>
        <a:ext cx="6536211" cy="929778"/>
      </dsp:txXfrm>
    </dsp:sp>
    <dsp:sp modelId="{0956FC3E-AEFC-B04C-AEF9-B91FE18ED98A}">
      <dsp:nvSpPr>
        <dsp:cNvPr id="0" name=""/>
        <dsp:cNvSpPr/>
      </dsp:nvSpPr>
      <dsp:spPr>
        <a:xfrm>
          <a:off x="0" y="1042284"/>
          <a:ext cx="6636809" cy="10303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 val="20222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Wannier functions are identical in every cell and orthogonal to its translations. </a:t>
          </a:r>
        </a:p>
      </dsp:txBody>
      <dsp:txXfrm>
        <a:off x="50299" y="1092583"/>
        <a:ext cx="6536211" cy="929778"/>
      </dsp:txXfrm>
    </dsp:sp>
    <dsp:sp modelId="{48F436F4-27A9-714E-BBDB-589077A83648}">
      <dsp:nvSpPr>
        <dsp:cNvPr id="0" name=""/>
        <dsp:cNvSpPr/>
      </dsp:nvSpPr>
      <dsp:spPr>
        <a:xfrm>
          <a:off x="0" y="2084403"/>
          <a:ext cx="6636809" cy="10303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 val="21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Simple translation of localized orbitals, they are not automatically orthogonal to their periodic images.</a:t>
          </a:r>
        </a:p>
      </dsp:txBody>
      <dsp:txXfrm>
        <a:off x="50299" y="2134702"/>
        <a:ext cx="6536211" cy="9297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B1E015-80A7-BF44-A3FE-147227886F24}">
      <dsp:nvSpPr>
        <dsp:cNvPr id="0" name=""/>
        <dsp:cNvSpPr/>
      </dsp:nvSpPr>
      <dsp:spPr>
        <a:xfrm>
          <a:off x="1770452" y="334833"/>
          <a:ext cx="2870330" cy="668729"/>
        </a:xfrm>
        <a:prstGeom prst="roundRect">
          <a:avLst>
            <a:gd name="adj" fmla="val 10000"/>
          </a:avLst>
        </a:prstGeom>
        <a:solidFill>
          <a:schemeClr val="bg1"/>
        </a:solidFill>
        <a:ln w="508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Guess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Arial" panose="020B0604020202020204" pitchFamily="34" charset="0"/>
                    </a:rPr>
                  </m:ctrlPr>
                </m:sSubPr>
                <m:e>
                  <m:r>
                    <a:rPr lang="en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Arial" panose="020B0604020202020204" pitchFamily="34" charset="0"/>
                    </a:rPr>
                    <m:t>𝝎</m:t>
                  </m:r>
                </m:e>
                <m:sub>
                  <m:r>
                    <a:rPr lang="en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Arial" panose="020B0604020202020204" pitchFamily="34" charset="0"/>
                    </a:rPr>
                    <m:t>𝒊</m:t>
                  </m:r>
                </m:sub>
              </m:sSub>
            </m:oMath>
          </a14:m>
          <a:endParaRPr lang="en-US" sz="20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790038" y="354419"/>
        <a:ext cx="2831158" cy="629557"/>
      </dsp:txXfrm>
    </dsp:sp>
    <dsp:sp modelId="{73FDBF50-E8E9-A445-B468-DBE906CA9D2A}">
      <dsp:nvSpPr>
        <dsp:cNvPr id="0" name=""/>
        <dsp:cNvSpPr/>
      </dsp:nvSpPr>
      <dsp:spPr>
        <a:xfrm rot="21583017">
          <a:off x="4645111" y="616236"/>
          <a:ext cx="691771" cy="88284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b="1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645111" y="633958"/>
        <a:ext cx="665286" cy="52970"/>
      </dsp:txXfrm>
    </dsp:sp>
    <dsp:sp modelId="{F3EAE146-C824-EB47-BE93-6CC95E24A5E1}">
      <dsp:nvSpPr>
        <dsp:cNvPr id="0" name=""/>
        <dsp:cNvSpPr/>
      </dsp:nvSpPr>
      <dsp:spPr>
        <a:xfrm>
          <a:off x="5341210" y="315443"/>
          <a:ext cx="3578887" cy="668729"/>
        </a:xfrm>
        <a:prstGeom prst="roundRect">
          <a:avLst>
            <a:gd name="adj" fmla="val 10000"/>
          </a:avLst>
        </a:prstGeom>
        <a:solidFill>
          <a:schemeClr val="bg1"/>
        </a:solidFill>
        <a:ln w="508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14:m xmlns:a14="http://schemas.microsoft.com/office/drawing/2010/main">
            <m:oMath xmlns:m="http://schemas.openxmlformats.org/officeDocument/2006/math">
              <m:r>
                <a:rPr lang="en-US" sz="2000" b="1" i="0" kern="120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m:t>𝚷</m:t>
              </m:r>
            </m:oMath>
          </a14:m>
          <a:r>
            <a:rPr lang="en-US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Finding Loop</a:t>
          </a:r>
        </a:p>
      </dsp:txBody>
      <dsp:txXfrm>
        <a:off x="5360796" y="335029"/>
        <a:ext cx="3539715" cy="629557"/>
      </dsp:txXfrm>
    </dsp:sp>
    <dsp:sp modelId="{CE0C7770-D928-624D-AAEC-1121DC50449B}">
      <dsp:nvSpPr>
        <dsp:cNvPr id="0" name=""/>
        <dsp:cNvSpPr/>
      </dsp:nvSpPr>
      <dsp:spPr>
        <a:xfrm rot="5400000">
          <a:off x="7043597" y="1028178"/>
          <a:ext cx="174113" cy="88284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b="1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7104169" y="985264"/>
        <a:ext cx="52970" cy="147628"/>
      </dsp:txXfrm>
    </dsp:sp>
    <dsp:sp modelId="{6328C9F0-DF55-2B44-AA88-C47C3FD2807D}">
      <dsp:nvSpPr>
        <dsp:cNvPr id="0" name=""/>
        <dsp:cNvSpPr/>
      </dsp:nvSpPr>
      <dsp:spPr>
        <a:xfrm>
          <a:off x="5393839" y="1160467"/>
          <a:ext cx="3473630" cy="668729"/>
        </a:xfrm>
        <a:prstGeom prst="roundRect">
          <a:avLst>
            <a:gd name="adj" fmla="val 10000"/>
          </a:avLst>
        </a:prstGeom>
        <a:solidFill>
          <a:schemeClr val="bg1"/>
        </a:solidFill>
        <a:ln w="508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</a:t>
          </a:r>
          <a14:m xmlns:a14="http://schemas.microsoft.com/office/drawing/2010/main">
            <m:oMath xmlns:m="http://schemas.openxmlformats.org/officeDocument/2006/math">
              <m:d>
                <m:dPr>
                  <m:ctrlPr>
                    <a:rPr lang="en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</m:ctrlPr>
                </m:dPr>
                <m:e>
                  <m:r>
                    <a:rPr lang="en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m:t>𝟏</m:t>
                  </m:r>
                  <m:r>
                    <a:rPr lang="en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m:t>−</m:t>
                  </m:r>
                  <m:r>
                    <a:rPr lang="en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m:t>𝑷</m:t>
                  </m:r>
                </m:e>
              </m:d>
              <m:r>
                <a:rPr lang="en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m:t> </m:t>
              </m:r>
            </m:oMath>
          </a14:m>
          <a:r>
            <a:rPr lang="en-US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and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m:t>𝑯</m:t>
                  </m:r>
                </m:e>
                <m:sub>
                  <m:r>
                    <a:rPr lang="en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m:t>𝒘</m:t>
                  </m:r>
                </m:sub>
              </m:sSub>
            </m:oMath>
          </a14:m>
          <a:endParaRPr lang="en-US" sz="20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413425" y="1180053"/>
        <a:ext cx="3434458" cy="629557"/>
      </dsp:txXfrm>
    </dsp:sp>
    <dsp:sp modelId="{0755BF78-222B-2746-BADC-A3AD17A4305E}">
      <dsp:nvSpPr>
        <dsp:cNvPr id="0" name=""/>
        <dsp:cNvSpPr/>
      </dsp:nvSpPr>
      <dsp:spPr>
        <a:xfrm rot="5197467">
          <a:off x="7041178" y="1902426"/>
          <a:ext cx="232241" cy="88284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b="1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7130034" y="1830470"/>
        <a:ext cx="52970" cy="205756"/>
      </dsp:txXfrm>
    </dsp:sp>
    <dsp:sp modelId="{DCB8FDE7-7F84-BD41-8807-C39E7847C973}">
      <dsp:nvSpPr>
        <dsp:cNvPr id="0" name=""/>
        <dsp:cNvSpPr/>
      </dsp:nvSpPr>
      <dsp:spPr>
        <a:xfrm>
          <a:off x="5377424" y="2063939"/>
          <a:ext cx="3612333" cy="656789"/>
        </a:xfrm>
        <a:prstGeom prst="roundRect">
          <a:avLst>
            <a:gd name="adj" fmla="val 10000"/>
          </a:avLst>
        </a:prstGeom>
        <a:noFill/>
        <a:ln w="34925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Diagonalize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m:t>𝑯</m:t>
                  </m:r>
                </m:e>
                <m:sub>
                  <m:r>
                    <a:rPr lang="en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m:t>𝒘</m:t>
                  </m:r>
                </m:sub>
              </m:sSub>
              <m:r>
                <a:rPr lang="en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m:t>→</m:t>
              </m:r>
            </m:oMath>
          </a14:m>
          <a:r>
            <a:rPr lang="en-US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new 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m:t>𝝎</m:t>
                  </m:r>
                </m:e>
                <m:sub>
                  <m:r>
                    <a:rPr lang="en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m:t>𝒊</m:t>
                  </m:r>
                </m:sub>
              </m:sSub>
            </m:oMath>
          </a14:m>
          <a:endParaRPr lang="en-US" sz="20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396661" y="2083176"/>
        <a:ext cx="3573859" cy="618315"/>
      </dsp:txXfrm>
    </dsp:sp>
    <dsp:sp modelId="{E05E62C6-6D98-7446-9D31-B18250196871}">
      <dsp:nvSpPr>
        <dsp:cNvPr id="0" name=""/>
        <dsp:cNvSpPr/>
      </dsp:nvSpPr>
      <dsp:spPr>
        <a:xfrm rot="5573748">
          <a:off x="7061629" y="2803949"/>
          <a:ext cx="197403" cy="96428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7132133" y="2753480"/>
        <a:ext cx="57856" cy="168475"/>
      </dsp:txXfrm>
    </dsp:sp>
    <dsp:sp modelId="{E4E3428E-7BEC-F24A-A974-A5868E69D7DD}">
      <dsp:nvSpPr>
        <dsp:cNvPr id="0" name=""/>
        <dsp:cNvSpPr/>
      </dsp:nvSpPr>
      <dsp:spPr>
        <a:xfrm>
          <a:off x="4777163" y="2983598"/>
          <a:ext cx="4706982" cy="910493"/>
        </a:xfrm>
        <a:prstGeom prst="roundRect">
          <a:avLst>
            <a:gd name="adj" fmla="val 10000"/>
          </a:avLst>
        </a:prstGeom>
        <a:solidFill>
          <a:schemeClr val="bg1"/>
        </a:solidFill>
        <a:ln w="508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Compute folded density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sz="2000" b="1" i="1" kern="1200" dirty="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Arial" panose="020B0604020202020204" pitchFamily="34" charset="0"/>
                    </a:rPr>
                  </m:ctrlPr>
                </m:sSubPr>
                <m:e>
                  <m:acc>
                    <m:accPr>
                      <m:chr m:val="̅"/>
                      <m:ctrlPr>
                        <a:rPr lang="en-US" sz="2000" b="1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</m:ctrlPr>
                    </m:accPr>
                    <m:e>
                      <m:r>
                        <a:rPr lang="en-US" sz="2000" b="1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</m:t>
                      </m:r>
                    </m:e>
                  </m:acc>
                </m:e>
                <m:sub>
                  <m:r>
                    <a:rPr lang="en-US" sz="2000" b="1" i="1" kern="1200" dirty="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Arial" panose="020B0604020202020204" pitchFamily="34" charset="0"/>
                    </a:rPr>
                    <m:t>𝟎</m:t>
                  </m:r>
                </m:sub>
              </m:sSub>
              <m:r>
                <a:rPr lang="en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m:t>(</m:t>
              </m:r>
              <m:r>
                <a:rPr lang="en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m:t>𝒓</m:t>
              </m:r>
              <m:r>
                <a:rPr lang="en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m:t>)</m:t>
              </m:r>
            </m:oMath>
          </a14:m>
          <a:r>
            <a:rPr lang="en-US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and obtain potential </a:t>
          </a:r>
          <a14:m xmlns:a14="http://schemas.microsoft.com/office/drawing/2010/main">
            <m:oMath xmlns:m="http://schemas.openxmlformats.org/officeDocument/2006/math">
              <m:r>
                <a:rPr lang="en-US" sz="2000" b="1" i="0" kern="120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m:t>𝚽</m:t>
              </m:r>
              <m:r>
                <a:rPr lang="en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m:t>(</m:t>
              </m:r>
              <m:r>
                <a:rPr lang="en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m:t>𝒓</m:t>
              </m:r>
              <m:r>
                <a:rPr lang="en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m:t>)</m:t>
              </m:r>
            </m:oMath>
          </a14:m>
          <a:endParaRPr lang="en-US" sz="20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803830" y="3010265"/>
        <a:ext cx="4653648" cy="857159"/>
      </dsp:txXfrm>
    </dsp:sp>
    <dsp:sp modelId="{D796963C-8F2A-2A45-A938-F3BF14287B35}">
      <dsp:nvSpPr>
        <dsp:cNvPr id="0" name=""/>
        <dsp:cNvSpPr/>
      </dsp:nvSpPr>
      <dsp:spPr>
        <a:xfrm rot="5400000">
          <a:off x="6972877" y="4009703"/>
          <a:ext cx="315554" cy="88284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b="1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7104169" y="3896069"/>
        <a:ext cx="52970" cy="289069"/>
      </dsp:txXfrm>
    </dsp:sp>
    <dsp:sp modelId="{C0113F39-6FD0-4B45-A3F9-6096250084F9}">
      <dsp:nvSpPr>
        <dsp:cNvPr id="0" name=""/>
        <dsp:cNvSpPr/>
      </dsp:nvSpPr>
      <dsp:spPr>
        <a:xfrm>
          <a:off x="5327517" y="4213598"/>
          <a:ext cx="3606273" cy="814319"/>
        </a:xfrm>
        <a:prstGeom prst="roundRect">
          <a:avLst>
            <a:gd name="adj" fmla="val 10000"/>
          </a:avLst>
        </a:prstGeom>
        <a:solidFill>
          <a:schemeClr val="bg1"/>
        </a:solidFill>
        <a:ln w="508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updated crystal Hamiltonian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US" sz="2000" b="1" i="0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m:t>𝐇</m:t>
                  </m:r>
                </m:e>
                <m:sub>
                  <m:r>
                    <a:rPr lang="en-US" sz="2000" b="1" i="0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m:t>𝟎</m:t>
                  </m:r>
                </m:sub>
              </m:sSub>
            </m:oMath>
          </a14:m>
          <a:endParaRPr lang="en-US" sz="20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351368" y="4237449"/>
        <a:ext cx="3558571" cy="766617"/>
      </dsp:txXfrm>
    </dsp:sp>
    <dsp:sp modelId="{133C39D1-2434-1144-83EB-7A1D969579F3}">
      <dsp:nvSpPr>
        <dsp:cNvPr id="0" name=""/>
        <dsp:cNvSpPr/>
      </dsp:nvSpPr>
      <dsp:spPr>
        <a:xfrm rot="5400000">
          <a:off x="6974151" y="5142239"/>
          <a:ext cx="313006" cy="88284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b="1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7104169" y="5029879"/>
        <a:ext cx="52970" cy="286521"/>
      </dsp:txXfrm>
    </dsp:sp>
    <dsp:sp modelId="{01AEC4D7-1D81-AE40-A5D0-41793689DFAD}">
      <dsp:nvSpPr>
        <dsp:cNvPr id="0" name=""/>
        <dsp:cNvSpPr/>
      </dsp:nvSpPr>
      <dsp:spPr>
        <a:xfrm>
          <a:off x="5379220" y="5344845"/>
          <a:ext cx="3502867" cy="668729"/>
        </a:xfrm>
        <a:prstGeom prst="roundRect">
          <a:avLst>
            <a:gd name="adj" fmla="val 10000"/>
          </a:avLst>
        </a:prstGeom>
        <a:solidFill>
          <a:schemeClr val="bg1"/>
        </a:solidFill>
        <a:ln w="508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Check convergence</a:t>
          </a:r>
          <a:br>
            <a:rPr lang="en-US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(Energy OR density)</a:t>
          </a:r>
        </a:p>
      </dsp:txBody>
      <dsp:txXfrm>
        <a:off x="5398806" y="5364431"/>
        <a:ext cx="3463695" cy="629557"/>
      </dsp:txXfrm>
    </dsp:sp>
    <dsp:sp modelId="{E28CFEC2-228E-1A4B-9C57-3CE32F4A5E9C}">
      <dsp:nvSpPr>
        <dsp:cNvPr id="0" name=""/>
        <dsp:cNvSpPr/>
      </dsp:nvSpPr>
      <dsp:spPr>
        <a:xfrm rot="10802268">
          <a:off x="4498467" y="5633620"/>
          <a:ext cx="875271" cy="88284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b="1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4524952" y="5651286"/>
        <a:ext cx="848786" cy="52970"/>
      </dsp:txXfrm>
    </dsp:sp>
    <dsp:sp modelId="{AD01BE72-E466-DB40-9E5A-3E1F9C13EFCC}">
      <dsp:nvSpPr>
        <dsp:cNvPr id="0" name=""/>
        <dsp:cNvSpPr/>
      </dsp:nvSpPr>
      <dsp:spPr>
        <a:xfrm>
          <a:off x="1622655" y="5342158"/>
          <a:ext cx="2870330" cy="668729"/>
        </a:xfrm>
        <a:prstGeom prst="roundRect">
          <a:avLst>
            <a:gd name="adj" fmla="val 10000"/>
          </a:avLst>
        </a:prstGeom>
        <a:solidFill>
          <a:schemeClr val="bg1"/>
        </a:solidFill>
        <a:ln w="508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SCF Solution</a:t>
          </a:r>
        </a:p>
      </dsp:txBody>
      <dsp:txXfrm>
        <a:off x="1642241" y="5361744"/>
        <a:ext cx="2831158" cy="6295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62F4A-F5BD-7346-B2CB-0A85FBE216FB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611E1D-F9EA-4649-B644-D2B8DB03D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295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"Good morning. I'm Yashpal Singh from Central Michigan University. Today I'll present a Wannier-first approach to extended DFT that handles chiral systems — like nanotubes and helical chains — without supercells, by starting from localized functions rather than Bloch states.”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11E1D-F9EA-4649-B644-D2B8DB03DB7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0468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Standard periodic code.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dirty="0"/>
            </a:br>
            <a:r>
              <a:rPr lang="en-US" dirty="0"/>
              <a:t>Large supercell =&gt; computational cost</a:t>
            </a:r>
            <a:br>
              <a:rPr lang="en-US" dirty="0"/>
            </a:br>
            <a:r>
              <a:rPr lang="en-US" dirty="0"/>
              <a:t>Impossible supercells.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11E1D-F9EA-4649-B644-D2B8DB03DB7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509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u="sng" dirty="0"/>
              <a:t>Two Regions</a:t>
            </a:r>
            <a:br>
              <a:rPr lang="en-US" sz="1200" dirty="0"/>
            </a:br>
            <a:r>
              <a:rPr lang="en-US" sz="1200" dirty="0"/>
              <a:t>1) Wannier Domain (WD): Depends on the spread in basis function.</a:t>
            </a:r>
            <a:br>
              <a:rPr lang="en-US" sz="1200" dirty="0"/>
            </a:br>
            <a:r>
              <a:rPr lang="en-US" sz="1200" dirty="0"/>
              <a:t>2) Outside WD.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Local representation of a periodic system.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I start with localized orbitals in one cell and simply translate them, they are not automatically orthogonal to their periodic images.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 key problem is: how do we construct site-zero Wannier functions that are orthogonal to all translated copies?”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11E1D-F9EA-4649-B644-D2B8DB03DB7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14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Operator, minimizes the overlap between approximate Wannier function with their translations.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 first term represents all neighboring translated orbitals.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second term represents the central cell orbitals.”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idea came 1987 : calculated localized Wannier like functions for silicon.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measures overlap between the central cell and all of its symmetry-related images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 eigenvectors with non-positive eigenvalues correspond to states localized in the central cell. These define a projection operator that filters out intercell overlap. The crystal Hamiltonian is then projected into this localized subspace.”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“Unlike conventional Wannier methods, this localization is enforced variationally in real space without Fourier transforms.”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11E1D-F9EA-4649-B644-D2B8DB03DB7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155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D27A4-5B42-383B-4178-CCBB6EB2D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517519-F3D5-A797-0BF2-A7B01744E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CDA276D-1A7A-B97F-E4D2-CAAE607ADB9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All the charge associated with the blue volume.</a:t>
                </a:r>
              </a:p>
              <a:p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“Once we obtain the Wannier-like functions in the central cell, we must reconstruct the full crystal Hamiltonian.”</a:t>
                </a:r>
              </a:p>
              <a:p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“The key idea is that all charge from neighboring cells is folded back into the Wannier domain.”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“Instead of treating the infinite lattice explicitly, we fold neighboring charge contributions into the central region.”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Once we obtain the Wannier-like functions in the central cell, we must reconstruct the full crystal Hamiltonian.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Decay of potential of a neutral charge distribution depends on the lowest non-vanishing multipole.</a:t>
                </a:r>
              </a:p>
              <a:p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1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200" b="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𝑊𝐷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subHide m:val="on"/>
                                  <m:supHide m:val="on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f>
                                    <m:f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b="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sz="1200" b="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200" b="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  <m:r>
                                            <a:rPr lang="en-US" sz="1200" b="0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e>
                                      </m:d>
                                    </m:num>
                                    <m:den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  <m:r>
                                            <a:rPr lang="en-US" sz="1200" b="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200" b="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  <m:r>
                                            <a:rPr lang="en-US" sz="1200" b="0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e>
                                      </m:d>
                                    </m:den>
                                  </m:f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</a:rPr>
                                    <m:t>𝑑𝑟</m:t>
                                  </m:r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</m:nary>
                              <m: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sz="1200" b="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</a:rPr>
                                    <m:t>−(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sz="1200" b="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b>
                                  </m:sSub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200" b="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</a:rPr>
                                    <m:t>)|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sz="1200" b="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200" b="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∉</m:t>
                          </m:r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𝑊𝐷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</a:rPr>
                                    <m:t>𝑙𝑚</m:t>
                                  </m:r>
                                </m:sub>
                              </m:sSub>
                              <m: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</a:rPr>
                                    <m:t>𝑙𝑚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200" b="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allows us to treat infinite electrostatics entirely in real space, without Ewald summations or reciprocal-space FFTs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electrostatic potential is separated into two parts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dirty="0"/>
                  <a:t>1️⃣ Contributions from cells inside the Wannier domain are treated explicitly.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2️⃣ Contributions from cells outside are treated using a multipole expansion.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 near-field interactions are exact, and far-field interactions are handled analytically.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CDA276D-1A7A-B97F-E4D2-CAAE607ADB9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“Once we obtain the Wannier-like functions in the central cell, we must reconstruct the full crystal Hamiltonian.”</a:t>
                </a:r>
              </a:p>
              <a:p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“The key idea is that all charge from neighboring cells is folded back into the Wannier domain.”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“Instead of treating the infinite lattice explicitly, we fold neighboring charge contributions into the central region.”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Once we obtain the Wannier-like functions in the central cell, we must reconstruct the full crystal Hamiltonian.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Decay of potential of a neutral charge distribution depends on the lowest non-vanishing multipole.</a:t>
                </a:r>
              </a:p>
              <a:p>
                <a:endParaRPr lang="en-US" sz="1200" dirty="0"/>
              </a:p>
              <a:p>
                <a:r>
                  <a:rPr lang="en-US" sz="1200" b="0" i="0">
                    <a:latin typeface="Cambria Math" panose="02040503050406030204" pitchFamily="18" charset="0"/>
                  </a:rPr>
                  <a:t>Φ</a:t>
                </a:r>
                <a:r>
                  <a:rPr lang="en-US" sz="1200" i="0">
                    <a:latin typeface="Cambria Math" panose="02040503050406030204" pitchFamily="18" charset="0"/>
                  </a:rPr>
                  <a:t>(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𝑟)=</a:t>
                </a:r>
                <a:r>
                  <a:rPr lang="en-US" sz="1200" i="0">
                    <a:latin typeface="Cambria Math" panose="02040503050406030204" pitchFamily="18" charset="0"/>
                  </a:rPr>
                  <a:t>∑</a:t>
                </a:r>
                <a:r>
                  <a:rPr lang="en-US" sz="1200" b="0" i="0">
                    <a:latin typeface="Cambria Math" panose="02040503050406030204" pitchFamily="18" charset="0"/>
                  </a:rPr>
                  <a:t>_(𝑗,𝑎∈𝑊𝐷)▒[∫▒〖(𝑛_𝑎 (𝑟′))/|𝑟−𝑟′|  𝑑𝑟′〗−𝑍_𝑗/(|𝑟−(𝑇_𝑎+𝑅_𝑗)|)] +</a:t>
                </a:r>
                <a:r>
                  <a:rPr lang="en-US" sz="1200" i="0">
                    <a:latin typeface="Cambria Math" panose="02040503050406030204" pitchFamily="18" charset="0"/>
                  </a:rPr>
                  <a:t>∑</a:t>
                </a:r>
                <a:r>
                  <a:rPr lang="en-US" sz="1200" b="0" i="0">
                    <a:latin typeface="Cambria Math" panose="02040503050406030204" pitchFamily="18" charset="0"/>
                  </a:rPr>
                  <a:t>_(𝑙𝑚,𝑟∉𝑊𝐷)▒(𝑆_𝑙𝑚  𝑌_𝑙𝑚 (𝑟 ̂ ))/𝑟^(𝑙+1) </a:t>
                </a:r>
                <a:endParaRPr lang="en-US" dirty="0"/>
              </a:p>
              <a:p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allows us to treat infinite electrostatics entirely in real space, without Ewald summations or reciprocal-space FFTs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electrostatic potential is separated into two parts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dirty="0"/>
                  <a:t>1️⃣ Contributions from cells inside the Wannier domain are treated explicitly.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2️⃣ Contributions from cells outside are treated using a multipole expansion.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 near-field interactions are exact, and far-field interactions are handled analytically.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2EF46-2DDE-151B-B56B-4DDAE63A72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11E1D-F9EA-4649-B644-D2B8DB03DB7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480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Putting it all together: we start with a guess wavefunction, construct the </a:t>
            </a:r>
            <a:r>
              <a:rPr lang="el-G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Π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operator, build the projected Hamiltonian, solve for the charge density and electrostatic potential, compute the total energy, and check for convergence. This is a fully self-consistent calculation — the Wannier functions are optimized variationally, not constructed as a post-processing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11E1D-F9EA-4649-B644-D2B8DB03DB7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810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 algn="r">
                  <a:buFont typeface="Arial" panose="020B0604020202020204" pitchFamily="34" charset="0"/>
                  <a:buNone/>
                </a:pPr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𝓣</m:t>
                              </m:r>
                            </m:e>
                            <m:sub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|"/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</m:d>
                          <m:sSub>
                            <m:sSub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𝓣</m:t>
                              </m:r>
                            </m:e>
                            <m:sub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   </m:t>
                      </m:r>
                    </m:oMath>
                  </m:oMathPara>
                </a14:m>
                <a:br>
                  <a:rPr lang="en-US" sz="1200" b="0" i="1" dirty="0">
                    <a:latin typeface="Cambria Math" panose="02040503050406030204" pitchFamily="18" charset="0"/>
                  </a:rPr>
                </a:br>
                <a:r>
                  <a:rPr lang="en-US" sz="1200" b="0" i="1" dirty="0">
                    <a:latin typeface="Cambria Math" panose="02040503050406030204" pitchFamily="18" charset="0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subHide m:val="on"/>
                        <m:supHide m:val="on"/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12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200" b="1" smtClean="0">
                            <a:latin typeface="Cambria Math" panose="02040503050406030204" pitchFamily="18" charset="0"/>
                          </a:rPr>
                          <m:t>𝐫</m:t>
                        </m:r>
                        <m:r>
                          <a:rPr lang="en-US" sz="120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20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120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d>
                          <m:d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1" smtClean="0">
                                <a:latin typeface="Cambria Math" panose="02040503050406030204" pitchFamily="18" charset="0"/>
                              </a:rPr>
                              <m:t>𝐫</m:t>
                            </m:r>
                          </m:e>
                        </m:d>
                        <m:r>
                          <a:rPr lang="en-US" sz="1200" i="1" smtClean="0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acc>
                        <m:sSub>
                          <m:sSub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120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r>
                          <a:rPr lang="en-US" sz="120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𝓣</m:t>
                            </m:r>
                          </m:e>
                          <m:sub>
                            <m:r>
                              <a:rPr lang="en-US" sz="120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sz="120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r>
                          <a:rPr lang="en-US" sz="1200" b="1" smtClean="0">
                            <a:latin typeface="Cambria Math" panose="02040503050406030204" pitchFamily="18" charset="0"/>
                          </a:rPr>
                          <m:t>𝐫</m:t>
                        </m:r>
                        <m:r>
                          <a:rPr lang="en-US" sz="120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12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 lang="en-US" sz="12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𝓣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𝓣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</m:e>
                      </m:d>
                    </m:oMath>
                  </m:oMathPara>
                </a14:m>
                <a:endParaRPr lang="en-US" sz="12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1200" i="1" dirty="0">
                    <a:latin typeface="Cambria Math" panose="020405030504060302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subHide m:val="on"/>
                        <m:supHide m:val="on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200" b="1">
                            <a:latin typeface="Cambria Math" panose="02040503050406030204" pitchFamily="18" charset="0"/>
                          </a:rPr>
                          <m:t>𝐫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1">
                                <a:latin typeface="Cambria Math" panose="02040503050406030204" pitchFamily="18" charset="0"/>
                              </a:rPr>
                              <m:t>𝐫</m:t>
                            </m:r>
                          </m:e>
                        </m:d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𝓣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r>
                          <a:rPr lang="en-US" sz="1200" b="1">
                            <a:latin typeface="Cambria Math" panose="02040503050406030204" pitchFamily="18" charset="0"/>
                          </a:rPr>
                          <m:t>𝐫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12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 algn="r">
                  <a:buFont typeface="Arial" panose="020B0604020202020204" pitchFamily="34" charset="0"/>
                  <a:buNone/>
                </a:pPr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1200" i="0">
                    <a:latin typeface="Cambria Math" panose="02040503050406030204" pitchFamily="18" charset="0"/>
                  </a:rPr>
                  <a:t>𝐻_(𝑛𝑛^′ ) (𝓣_𝑚 )=⟨𝑓_𝑛 |𝐻 ̂ | 𝓣_𝑚 𝑓_(𝑛^′ ) ⟩</a:t>
                </a:r>
                <a:r>
                  <a:rPr lang="en-US" sz="1200" b="0" i="0">
                    <a:latin typeface="Cambria Math" panose="02040503050406030204" pitchFamily="18" charset="0"/>
                  </a:rPr>
                  <a:t>     </a:t>
                </a:r>
                <a:br>
                  <a:rPr lang="en-US" sz="1200" b="0" i="1" dirty="0">
                    <a:latin typeface="Cambria Math" panose="02040503050406030204" pitchFamily="18" charset="0"/>
                  </a:rPr>
                </a:br>
                <a:r>
                  <a:rPr lang="en-US" sz="1200" b="0" i="1" dirty="0">
                    <a:latin typeface="Cambria Math" panose="02040503050406030204" pitchFamily="18" charset="0"/>
                  </a:rPr>
                  <a:t>                 </a:t>
                </a:r>
                <a:r>
                  <a:rPr lang="en-US" sz="1200" i="0">
                    <a:latin typeface="Cambria Math" panose="02040503050406030204" pitchFamily="18" charset="0"/>
                  </a:rPr>
                  <a:t>=∫▒〖𝑑</a:t>
                </a:r>
                <a:r>
                  <a:rPr lang="en-US" sz="1200" b="1" i="0">
                    <a:latin typeface="Cambria Math" panose="02040503050406030204" pitchFamily="18" charset="0"/>
                  </a:rPr>
                  <a:t>𝐫</a:t>
                </a:r>
                <a:r>
                  <a:rPr lang="en-US" sz="1200" i="0">
                    <a:latin typeface="Cambria Math" panose="02040503050406030204" pitchFamily="18" charset="0"/>
                  </a:rPr>
                  <a:t> 𝑓_𝑛^∗ (</a:t>
                </a:r>
                <a:r>
                  <a:rPr lang="en-US" sz="1200" b="1" i="0">
                    <a:latin typeface="Cambria Math" panose="02040503050406030204" pitchFamily="18" charset="0"/>
                  </a:rPr>
                  <a:t>𝐫) </a:t>
                </a:r>
                <a:r>
                  <a:rPr lang="en-US" sz="1200" i="0">
                    <a:latin typeface="Cambria Math" panose="02040503050406030204" pitchFamily="18" charset="0"/>
                  </a:rPr>
                  <a:t> 𝐻 ̂𝑓_(𝑛^′ ) (𝓣_𝑚^(−1)</a:t>
                </a:r>
                <a:r>
                  <a:rPr lang="en-US" sz="1200" b="1" i="0">
                    <a:latin typeface="Cambria Math" panose="02040503050406030204" pitchFamily="18" charset="0"/>
                  </a:rPr>
                  <a:t> 𝐫</a:t>
                </a:r>
                <a:r>
                  <a:rPr lang="en-US" sz="1200" i="0">
                    <a:latin typeface="Cambria Math" panose="02040503050406030204" pitchFamily="18" charset="0"/>
                  </a:rPr>
                  <a:t>)〗</a:t>
                </a:r>
                <a:endParaRPr lang="en-US" sz="12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 lang="en-US" sz="12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1200" i="0">
                    <a:latin typeface="Cambria Math" panose="02040503050406030204" pitchFamily="18" charset="0"/>
                  </a:rPr>
                  <a:t>𝑆_(𝑛𝑛^′ ) (𝓣_𝑚 )=⟨𝑓_𝑛 |𝓣_𝑚 𝑓_(𝑛^′ ) ⟩</a:t>
                </a:r>
                <a:endParaRPr lang="en-US" sz="12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1200" i="1" dirty="0">
                    <a:latin typeface="Cambria Math" panose="02040503050406030204" pitchFamily="18" charset="0"/>
                  </a:rPr>
                  <a:t>           </a:t>
                </a:r>
                <a:r>
                  <a:rPr lang="en-US" sz="1200" i="0">
                    <a:latin typeface="Cambria Math" panose="02040503050406030204" pitchFamily="18" charset="0"/>
                  </a:rPr>
                  <a:t>=∫▒〖𝑑</a:t>
                </a:r>
                <a:r>
                  <a:rPr lang="en-US" sz="1200" b="1" i="0">
                    <a:latin typeface="Cambria Math" panose="02040503050406030204" pitchFamily="18" charset="0"/>
                  </a:rPr>
                  <a:t>𝐫</a:t>
                </a:r>
                <a:r>
                  <a:rPr lang="en-US" sz="1200" i="0">
                    <a:latin typeface="Cambria Math" panose="02040503050406030204" pitchFamily="18" charset="0"/>
                  </a:rPr>
                  <a:t> 𝑓_𝑛^∗ (</a:t>
                </a:r>
                <a:r>
                  <a:rPr lang="en-US" sz="1200" b="1" i="0">
                    <a:latin typeface="Cambria Math" panose="02040503050406030204" pitchFamily="18" charset="0"/>
                  </a:rPr>
                  <a:t>𝐫) </a:t>
                </a:r>
                <a:r>
                  <a:rPr lang="en-US" sz="1200" i="0">
                    <a:latin typeface="Cambria Math" panose="02040503050406030204" pitchFamily="18" charset="0"/>
                  </a:rPr>
                  <a:t> 𝑓_(𝑛^′ ) (𝓣_𝑚^(−1)</a:t>
                </a:r>
                <a:r>
                  <a:rPr lang="en-US" sz="1200" b="1" i="0">
                    <a:latin typeface="Cambria Math" panose="02040503050406030204" pitchFamily="18" charset="0"/>
                  </a:rPr>
                  <a:t> 𝐫</a:t>
                </a:r>
                <a:r>
                  <a:rPr lang="en-US" sz="1200" i="0">
                    <a:latin typeface="Cambria Math" panose="02040503050406030204" pitchFamily="18" charset="0"/>
                  </a:rPr>
                  <a:t>)〗</a:t>
                </a:r>
                <a:endParaRPr lang="en-US" sz="12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11E1D-F9EA-4649-B644-D2B8DB03DB7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5176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CCFD1-0FDE-1BFB-DE23-B03CDD709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9B28BA-C8BD-1AD9-E619-733947ED1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520B34-E132-DB75-4E7A-1A8F0F7FCE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journals.aps.org</a:t>
            </a:r>
            <a:r>
              <a:rPr lang="en-US" dirty="0"/>
              <a:t>/</a:t>
            </a:r>
            <a:r>
              <a:rPr lang="en-US" dirty="0" err="1"/>
              <a:t>prl</a:t>
            </a:r>
            <a:r>
              <a:rPr lang="en-US" dirty="0"/>
              <a:t>/abstract/10.1103/PhysRevLett.92.125502</a:t>
            </a:r>
          </a:p>
          <a:p>
            <a:r>
              <a:rPr lang="en-US" dirty="0"/>
              <a:t>https://</a:t>
            </a:r>
            <a:r>
              <a:rPr lang="en-US" dirty="0" err="1"/>
              <a:t>www.science.org</a:t>
            </a:r>
            <a:r>
              <a:rPr lang="en-US" dirty="0"/>
              <a:t>/</a:t>
            </a:r>
            <a:r>
              <a:rPr lang="en-US" dirty="0" err="1"/>
              <a:t>doi</a:t>
            </a:r>
            <a:r>
              <a:rPr lang="en-US" dirty="0"/>
              <a:t>/10.1126/sciadv.add4627?__cf_chl_tk=3YpGVWkSL_2ltzS3V3Bp0.ww6foxNJGgP1w2hKXSnrM-1771599801-1.0.1.1-J0DgKrQSFHlqLz1Q20En71.nHHOTd6m.WGoY2LEsg0U</a:t>
            </a:r>
          </a:p>
          <a:p>
            <a:r>
              <a:rPr lang="en-US" dirty="0"/>
              <a:t>https://</a:t>
            </a:r>
            <a:r>
              <a:rPr lang="en-US" dirty="0" err="1"/>
              <a:t>www.science.org</a:t>
            </a:r>
            <a:r>
              <a:rPr lang="en-US" dirty="0"/>
              <a:t>/</a:t>
            </a:r>
            <a:r>
              <a:rPr lang="en-US" dirty="0" err="1"/>
              <a:t>doi</a:t>
            </a:r>
            <a:r>
              <a:rPr lang="en-US" dirty="0"/>
              <a:t>/10.1126/sciadv.adn6519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5DCD0-B46B-C0AE-DCC3-1638DE5BAE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11E1D-F9EA-4649-B644-D2B8DB03DB7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2572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11E1D-F9EA-4649-B644-D2B8DB03DB7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38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journals.aps.org</a:t>
            </a:r>
            <a:r>
              <a:rPr lang="en-US" dirty="0"/>
              <a:t>/</a:t>
            </a:r>
            <a:r>
              <a:rPr lang="en-US" dirty="0" err="1"/>
              <a:t>prl</a:t>
            </a:r>
            <a:r>
              <a:rPr lang="en-US" dirty="0"/>
              <a:t>/abstract/10.1103/PhysRevLett.92.125502</a:t>
            </a:r>
          </a:p>
          <a:p>
            <a:r>
              <a:rPr lang="en-US" dirty="0"/>
              <a:t>https://</a:t>
            </a:r>
            <a:r>
              <a:rPr lang="en-US" dirty="0" err="1"/>
              <a:t>www.science.org</a:t>
            </a:r>
            <a:r>
              <a:rPr lang="en-US" dirty="0"/>
              <a:t>/</a:t>
            </a:r>
            <a:r>
              <a:rPr lang="en-US" dirty="0" err="1"/>
              <a:t>doi</a:t>
            </a:r>
            <a:r>
              <a:rPr lang="en-US" dirty="0"/>
              <a:t>/10.1126/sciadv.add4627?__cf_chl_tk=3YpGVWkSL_2ltzS3V3Bp0.ww6foxNJGgP1w2hKXSnrM-1771599801-1.0.1.1-J0DgKrQSFHlqLz1Q20En71.nHHOTd6m.WGoY2LEsg0U</a:t>
            </a:r>
          </a:p>
          <a:p>
            <a:r>
              <a:rPr lang="en-US" dirty="0"/>
              <a:t>https://</a:t>
            </a:r>
            <a:r>
              <a:rPr lang="en-US" dirty="0" err="1"/>
              <a:t>www.science.org</a:t>
            </a:r>
            <a:r>
              <a:rPr lang="en-US" dirty="0"/>
              <a:t>/</a:t>
            </a:r>
            <a:r>
              <a:rPr lang="en-US" dirty="0" err="1"/>
              <a:t>doi</a:t>
            </a:r>
            <a:r>
              <a:rPr lang="en-US" dirty="0"/>
              <a:t>/10.1126/sciadv.adn6519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11E1D-F9EA-4649-B644-D2B8DB03DB7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14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96256-5F24-038E-CB98-E84256DD9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6D2FDB-47C7-7ACD-133B-52DF84BD3F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3F315A-AF30-B897-40E2-336712FF8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journals.aps.org</a:t>
            </a:r>
            <a:r>
              <a:rPr lang="en-US" dirty="0"/>
              <a:t>/</a:t>
            </a:r>
            <a:r>
              <a:rPr lang="en-US" dirty="0" err="1"/>
              <a:t>prl</a:t>
            </a:r>
            <a:r>
              <a:rPr lang="en-US" dirty="0"/>
              <a:t>/abstract/10.1103/PhysRevLett.92.125502</a:t>
            </a:r>
          </a:p>
          <a:p>
            <a:r>
              <a:rPr lang="en-US" dirty="0"/>
              <a:t>https://</a:t>
            </a:r>
            <a:r>
              <a:rPr lang="en-US" dirty="0" err="1"/>
              <a:t>www.science.org</a:t>
            </a:r>
            <a:r>
              <a:rPr lang="en-US" dirty="0"/>
              <a:t>/</a:t>
            </a:r>
            <a:r>
              <a:rPr lang="en-US" dirty="0" err="1"/>
              <a:t>doi</a:t>
            </a:r>
            <a:r>
              <a:rPr lang="en-US" dirty="0"/>
              <a:t>/10.1126/sciadv.add4627?__cf_chl_tk=3YpGVWkSL_2ltzS3V3Bp0.ww6foxNJGgP1w2hKXSnrM-1771599801-1.0.1.1-J0DgKrQSFHlqLz1Q20En71.nHHOTd6m.WGoY2LEsg0U</a:t>
            </a:r>
          </a:p>
          <a:p>
            <a:r>
              <a:rPr lang="en-US" dirty="0"/>
              <a:t>https://</a:t>
            </a:r>
            <a:r>
              <a:rPr lang="en-US" dirty="0" err="1"/>
              <a:t>www.science.org</a:t>
            </a:r>
            <a:r>
              <a:rPr lang="en-US" dirty="0"/>
              <a:t>/</a:t>
            </a:r>
            <a:r>
              <a:rPr lang="en-US" dirty="0" err="1"/>
              <a:t>doi</a:t>
            </a:r>
            <a:r>
              <a:rPr lang="en-US" dirty="0"/>
              <a:t>/10.1126/sciadv.adn6519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8702D-A42C-0C07-320C-C98B0053EF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11E1D-F9EA-4649-B644-D2B8DB03DB7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0572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“Rather than constructing localized orbitals from Bloch states, we reverse the logic — we build periodicity from localization.”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“This gives us a symmetry-flexible and physically transparent framework for complex periodic systems.”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What we </a:t>
            </a:r>
            <a:r>
              <a:rPr lang="en-US" b="1" dirty="0" err="1"/>
              <a:t>showed:</a:t>
            </a:r>
            <a:r>
              <a:rPr lang="en-US" dirty="0" err="1"/>
              <a:t>Fully</a:t>
            </a:r>
            <a:r>
              <a:rPr lang="en-US" dirty="0"/>
              <a:t> real-space periodic DFT starting from localized Wannier functions</a:t>
            </a:r>
          </a:p>
          <a:p>
            <a:r>
              <a:rPr lang="en-US" dirty="0"/>
              <a:t>Handles both translation and screw-axis symmetry without supercells</a:t>
            </a:r>
          </a:p>
          <a:p>
            <a:r>
              <a:rPr lang="en-US" dirty="0"/>
              <a:t>Validated against Gaussian reference to </a:t>
            </a:r>
            <a:r>
              <a:rPr lang="el-GR" dirty="0"/>
              <a:t>μ</a:t>
            </a:r>
            <a:r>
              <a:rPr lang="en-US" dirty="0"/>
              <a:t>Hartree accuracy</a:t>
            </a:r>
          </a:p>
          <a:p>
            <a:r>
              <a:rPr lang="en-US" dirty="0"/>
              <a:t>Band structures, DOS, </a:t>
            </a:r>
            <a:r>
              <a:rPr lang="en-US" dirty="0" err="1"/>
              <a:t>Peierls</a:t>
            </a:r>
            <a:r>
              <a:rPr lang="en-US" dirty="0"/>
              <a:t> distortion all correctly reproduced</a:t>
            </a:r>
          </a:p>
          <a:p>
            <a:r>
              <a:rPr lang="en-US" b="1" dirty="0"/>
              <a:t>What's </a:t>
            </a:r>
            <a:r>
              <a:rPr lang="en-US" b="1" dirty="0" err="1"/>
              <a:t>next:</a:t>
            </a:r>
            <a:r>
              <a:rPr lang="en-US" dirty="0" err="1"/>
              <a:t>Benzene</a:t>
            </a:r>
            <a:r>
              <a:rPr lang="en-US" dirty="0"/>
              <a:t> (C₃/C₆ rotational symmetry)</a:t>
            </a:r>
          </a:p>
          <a:p>
            <a:r>
              <a:rPr lang="en-US" dirty="0"/>
              <a:t>Graphene (2D periodicity)</a:t>
            </a:r>
          </a:p>
          <a:p>
            <a:r>
              <a:rPr lang="en-US" dirty="0"/>
              <a:t>Carbon nanotubes (full helical symmetry)</a:t>
            </a:r>
          </a:p>
          <a:p>
            <a:r>
              <a:rPr lang="en-US" dirty="0"/>
              <a:t>Fermi-Löwdin orbital (FLO) construction for SIC</a:t>
            </a:r>
          </a:p>
          <a:p>
            <a:r>
              <a:rPr lang="en-US" dirty="0"/>
              <a:t>Force evaluation and geometry optimization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helices</a:t>
            </a:r>
          </a:p>
          <a:p>
            <a:r>
              <a:rPr lang="en-US" dirty="0"/>
              <a:t>twisted chains</a:t>
            </a:r>
          </a:p>
          <a:p>
            <a:r>
              <a:rPr lang="en-US" dirty="0"/>
              <a:t>chiral polymers</a:t>
            </a:r>
          </a:p>
          <a:p>
            <a:r>
              <a:rPr lang="en-US" dirty="0"/>
              <a:t>DNA-like systems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summarize: we've demonstrated a Wannier-first approach to periodic DFT that works entirely in real space. It handles translational and screw-axis symmetry without requiring supercells. We've validated it on carbyne, lithium fluoride, and boron nitride chains, achieving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microHartree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agreement with reference calculations. Going forward, we're extending to benzene with rotational symmetry, graphene for 2D periodicity, and ultimately carbon nanotubes — the systems that motivated this work. We're also implementing Fermi-Löwdin orbital construction, which will enable self-interaction corrections in a periodic framework. The key message is this: by starting from localization rather than delocalization, we gain the symmetry flexibility needed for chiral systems and a natural framework for orbital-dependent functionals.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11E1D-F9EA-4649-B644-D2B8DB03DB7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7738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11E1D-F9EA-4649-B644-D2B8DB03DB7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69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874D5-A697-097E-7891-116116A01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88461C-C0A1-F6A9-C222-90580320C5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92836-7B02-8388-221D-02976FB5A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73C29-FE0B-3346-8F95-034E2F6849E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0DB32-1968-96C7-76D0-C61056D42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C1515-8895-66F9-13AD-7F922A8A7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FF2E1-F84F-304E-B422-6DB11EEAC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423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76ADC-05CB-D895-9733-2283F84B3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7F787-4FFE-FAEE-BAB8-5092FBFDC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EE816-3A1A-AF69-78D9-3ADF37684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73C29-FE0B-3346-8F95-034E2F6849E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1C316-B4A6-2375-C73E-6455B3D8E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7D054-6679-EB9D-E4A7-A9520299B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FF2E1-F84F-304E-B422-6DB11EEAC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943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60501-50B9-C4B6-1EA0-1B3ED7FF0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51C5A-70AF-B898-A8DC-3AC686D00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F0EA2-B28D-F9A7-F754-BB017B6F5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73C29-FE0B-3346-8F95-034E2F6849E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EAA03-B0FE-BBD3-1816-8942D157F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4F2DC-1C05-26C4-C589-F4309396B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FF2E1-F84F-304E-B422-6DB11EEAC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36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01576-4404-3E35-8645-C25C1BFFA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9FD8D-5ED7-9068-53AF-439CEB63C0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F1D8BE-89F3-C4CD-7F64-FBBB2BD68C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391C5-5E1A-3C7C-F992-614EE97F2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73C29-FE0B-3346-8F95-034E2F6849E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4DD81-F2E0-D754-6C05-9FAB675B9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531FB0-4B37-C94A-8817-A73CFC950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FF2E1-F84F-304E-B422-6DB11EEAC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937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4F13F-68B6-DF48-1AF1-9535CC1A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38C554-A492-849B-2C3C-32C15EF34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03560-42DE-6A81-A75B-0C4E04A3E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64D9EB-8635-678B-FF6E-E320E69672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DF8802-353D-3E88-26E2-7E6588CF0A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0AAEF-E725-BBA4-0BAF-9968EBA5E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73C29-FE0B-3346-8F95-034E2F6849E4}" type="datetimeFigureOut">
              <a:rPr lang="en-US" smtClean="0"/>
              <a:t>7/2/26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25D9D1-0A0E-7E62-745B-90EE729F9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48F373-58AB-F7EB-D4D3-34F376658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FF2E1-F84F-304E-B422-6DB11EEAC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54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67AB8-E8D4-EACA-2EFE-7E4800B5C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3B77EF-6D4B-644B-23E4-0FA5F3E98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73C29-FE0B-3346-8F95-034E2F6849E4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6EF3F9-3006-62F1-8E9F-274338D36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1BD12F-274B-E3E0-4DAC-810C8A68C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FF2E1-F84F-304E-B422-6DB11EEAC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37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E5F3ED-30CD-8958-92CA-B8D408514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73C29-FE0B-3346-8F95-034E2F6849E4}" type="datetimeFigureOut">
              <a:rPr lang="en-US" smtClean="0"/>
              <a:t>7/2/26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F19669-A79A-A8D4-9418-21C55914E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D1F05-ADF5-F1B9-3CA6-E1D3BFB8C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FF2E1-F84F-304E-B422-6DB11EEAC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179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10F83-CF98-1B24-BA1C-C6E1DA484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CDA01-436E-CCE6-B70D-0B2191E25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4211C8-DC11-E9D5-8354-E3B039B7E2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139CFD-B828-D440-D979-151F03720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73C29-FE0B-3346-8F95-034E2F6849E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91EA0-4B07-294A-81DF-294B3BF25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CD2DC-3F36-ABA3-BD05-E6E68BF43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FF2E1-F84F-304E-B422-6DB11EEAC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375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67AAB-AED5-2106-E388-7A6C3FD34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595F89-16C4-FB56-D750-C783F43228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3A55AC-3448-C895-5777-3D28352FAE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345BA-B781-F895-35AC-DDE6BBB59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73C29-FE0B-3346-8F95-034E2F6849E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C3652-5C16-DAAF-732F-5237D2AF0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75E12-69A3-D8B2-F4E7-3DB09CB5F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FF2E1-F84F-304E-B422-6DB11EEAC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609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812AB-7357-32CA-3939-D3CB67586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7C732-890F-1CEE-40E5-FFD031E24C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4BB51-3C5A-503D-28FC-0804AD4BF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73C29-FE0B-3346-8F95-034E2F6849E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45BEF-B452-5909-0D22-9B59DC33E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B0DD1-7420-8CE9-15F4-0F477375F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FF2E1-F84F-304E-B422-6DB11EEAC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58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D01000-520F-D56A-B82C-1EC54E9647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2D284D-31B9-84AD-C521-5F696425B5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A05D4-F7D2-A5AB-FC6A-EB73B8469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73C29-FE0B-3346-8F95-034E2F6849E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42B95-E5C0-5235-8435-600C619C2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F1709-F311-67C4-7142-8D36651EA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FF2E1-F84F-304E-B422-6DB11EEAC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170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F4C9AC-3257-1933-D4F8-3F4A1F985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0AF17-4D7B-7DC0-5853-1DD08B019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65607-7325-736E-FC2A-8DA080BFF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673C29-FE0B-3346-8F95-034E2F6849E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A0D80-A057-7DD9-BFDC-31A9DB4D4D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77819-8F04-0AE8-42CF-881C299DA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1FF2E1-F84F-304E-B422-6DB11EEAC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889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4" r:id="rId1"/>
    <p:sldLayoutId id="2147484135" r:id="rId2"/>
    <p:sldLayoutId id="2147484136" r:id="rId3"/>
    <p:sldLayoutId id="2147484137" r:id="rId4"/>
    <p:sldLayoutId id="2147484138" r:id="rId5"/>
    <p:sldLayoutId id="2147484139" r:id="rId6"/>
    <p:sldLayoutId id="2147484140" r:id="rId7"/>
    <p:sldLayoutId id="2147484141" r:id="rId8"/>
    <p:sldLayoutId id="2147484142" r:id="rId9"/>
    <p:sldLayoutId id="2147484143" r:id="rId10"/>
    <p:sldLayoutId id="214748414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0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11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11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image" Target="../media/image14.png"/><Relationship Id="rId7" Type="http://schemas.openxmlformats.org/officeDocument/2006/relationships/image" Target="../media/image2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8.png"/><Relationship Id="rId10" Type="http://schemas.openxmlformats.org/officeDocument/2006/relationships/image" Target="../media/image17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6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7.emf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45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losic.org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F3062-78E8-BDB7-6E32-B7D184F85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841" y="2193302"/>
            <a:ext cx="11360103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A Wannier-first approach to chiral extended systems</a:t>
            </a:r>
            <a:endParaRPr lang="en-US" sz="4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16904C-9B11-BBED-9CB3-1A6F3DD5B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840" y="3221280"/>
            <a:ext cx="11360103" cy="320260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cap="none" dirty="0">
                <a:latin typeface="Arial" panose="020B0604020202020204" pitchFamily="34" charset="0"/>
                <a:cs typeface="Arial" panose="020B0604020202020204" pitchFamily="34" charset="0"/>
              </a:rPr>
              <a:t>Yashpal Singh</a:t>
            </a:r>
            <a:r>
              <a:rPr lang="en-US" cap="none" dirty="0">
                <a:latin typeface="Arial" panose="020B0604020202020204" pitchFamily="34" charset="0"/>
                <a:cs typeface="Arial" panose="020B0604020202020204" pitchFamily="34" charset="0"/>
              </a:rPr>
              <a:t>, Juan E. Peralta, Mark R. Pederson*, and Koblar A. Jackson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Department of Physics, Central Michigan University, Mt Pleasant, MI, 48858, USA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*Department of Physics, University of Texas, El Paso, TX, 79968, USA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March 17</a:t>
            </a:r>
            <a:r>
              <a:rPr lang="en-US" sz="22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2026</a:t>
            </a:r>
          </a:p>
        </p:txBody>
      </p:sp>
      <p:pic>
        <p:nvPicPr>
          <p:cNvPr id="5" name="Picture 4" descr="A close-up of a molecule&#10;&#10;AI-generated content may be incorrect.">
            <a:extLst>
              <a:ext uri="{FF2B5EF4-FFF2-40B4-BE49-F238E27FC236}">
                <a16:creationId xmlns:a16="http://schemas.microsoft.com/office/drawing/2014/main" id="{4412C2E5-7E6D-00E9-ADB5-FB8DDE8B6C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28" r="190"/>
          <a:stretch>
            <a:fillRect/>
          </a:stretch>
        </p:blipFill>
        <p:spPr>
          <a:xfrm>
            <a:off x="7065560" y="59942"/>
            <a:ext cx="4707923" cy="193125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1BFAE87-40F0-711D-A1A5-ADCA425921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8517" y="519253"/>
            <a:ext cx="5172787" cy="1175633"/>
          </a:xfrm>
          <a:prstGeom prst="rect">
            <a:avLst/>
          </a:prstGeom>
        </p:spPr>
      </p:pic>
      <p:pic>
        <p:nvPicPr>
          <p:cNvPr id="5122" name="Picture 2" descr="CMU Chippewas | Mount Pleasant, MI">
            <a:extLst>
              <a:ext uri="{FF2B5EF4-FFF2-40B4-BE49-F238E27FC236}">
                <a16:creationId xmlns:a16="http://schemas.microsoft.com/office/drawing/2014/main" id="{44240530-0717-6A51-3994-1313E08E6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6278" y="4676000"/>
            <a:ext cx="2117742" cy="2117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Texas at El Paso (UTEP) - Van Wagner">
            <a:extLst>
              <a:ext uri="{FF2B5EF4-FFF2-40B4-BE49-F238E27FC236}">
                <a16:creationId xmlns:a16="http://schemas.microsoft.com/office/drawing/2014/main" id="{82F23EB1-CD7C-133D-CF74-279A02EFA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379" y="4764572"/>
            <a:ext cx="2117743" cy="2117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583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A295D052-20FA-95E8-33FB-92CA229C94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9787" y="396643"/>
            <a:ext cx="1051242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Why Wannier-first? </a:t>
            </a:r>
            <a:endParaRPr kumimoji="0" lang="en-US" altLang="en-US" sz="36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29621D4E-A770-BADA-73F5-3497F89B7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" y="1709647"/>
            <a:ext cx="11074400" cy="4455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alt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Chiral or Screw Symmetry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Standard periodic codes assume pure translation symmetry. </a:t>
            </a:r>
            <a:b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Chiral systems require large supercells</a:t>
            </a:r>
            <a:b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Irrational twist 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No finite supercell.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endParaRPr lang="en-US" altLang="en-US" sz="2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alt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Bloch States (Delocalized by Construction): </a:t>
            </a:r>
            <a:b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Localized physics: Require post processing (e.g. Wannier90)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Require dense k-mesh + disentanglement + gauge fixing.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lang="en-US" altLang="en-U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method constructs Wannier functions directly in real space, eliminating the need to compute Bloch functions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.”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318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F140D-50C5-2D3A-B22C-E59FD3C10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22F8F00-222B-6EC1-9948-EAF50BAA26D7}"/>
              </a:ext>
            </a:extLst>
          </p:cNvPr>
          <p:cNvGrpSpPr/>
          <p:nvPr/>
        </p:nvGrpSpPr>
        <p:grpSpPr>
          <a:xfrm>
            <a:off x="7638576" y="1259665"/>
            <a:ext cx="3934840" cy="3518039"/>
            <a:chOff x="7259278" y="1424137"/>
            <a:chExt cx="3207657" cy="3200399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E465084-7EF3-4C19-9E91-126E6C0AD4B7}"/>
                </a:ext>
              </a:extLst>
            </p:cNvPr>
            <p:cNvGrpSpPr/>
            <p:nvPr/>
          </p:nvGrpSpPr>
          <p:grpSpPr>
            <a:xfrm>
              <a:off x="7259278" y="1424137"/>
              <a:ext cx="3207657" cy="3200399"/>
              <a:chOff x="3156857" y="2249715"/>
              <a:chExt cx="3207657" cy="3200399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EC05AB5E-8DFB-EBD5-8CE0-D346CBD5CD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92800" y="2249716"/>
                <a:ext cx="0" cy="3200398"/>
              </a:xfrm>
              <a:prstGeom prst="line">
                <a:avLst/>
              </a:prstGeom>
              <a:ln w="25400" cmpd="sng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8FE386FA-74C0-7735-FC24-EA1FB860F1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56857" y="2706914"/>
                <a:ext cx="3207657" cy="0"/>
              </a:xfrm>
              <a:prstGeom prst="line">
                <a:avLst/>
              </a:prstGeom>
              <a:ln w="25400" cmpd="sng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60DF080-C995-5DCE-365F-8CC9C2A1F5AD}"/>
                  </a:ext>
                </a:extLst>
              </p:cNvPr>
              <p:cNvSpPr/>
              <p:nvPr/>
            </p:nvSpPr>
            <p:spPr>
              <a:xfrm>
                <a:off x="4071257" y="3164115"/>
                <a:ext cx="1371600" cy="1371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74144"/>
                </a:schemeClr>
              </a:solidFill>
              <a:ln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A79B4EF7-D4A4-2748-AB53-6CCB99CA34B6}"/>
                  </a:ext>
                </a:extLst>
              </p:cNvPr>
              <p:cNvSpPr/>
              <p:nvPr/>
            </p:nvSpPr>
            <p:spPr>
              <a:xfrm>
                <a:off x="4528457" y="3621314"/>
                <a:ext cx="457200" cy="45720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 dirty="0">
                  <a:latin typeface="Aptos" panose="020B0004020202020204" pitchFamily="34" charset="0"/>
                </a:endParaRPr>
              </a:p>
            </p:txBody>
          </p: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72547AB7-0AD5-6EB2-E705-EAE7A29B0684}"/>
                  </a:ext>
                </a:extLst>
              </p:cNvPr>
              <p:cNvGrpSpPr/>
              <p:nvPr/>
            </p:nvGrpSpPr>
            <p:grpSpPr>
              <a:xfrm>
                <a:off x="3156857" y="2249715"/>
                <a:ext cx="3207657" cy="3200399"/>
                <a:chOff x="5486400" y="1828801"/>
                <a:chExt cx="3207657" cy="3200399"/>
              </a:xfrm>
            </p:grpSpPr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0741853C-DBE7-1433-6603-E4255F5534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86400" y="2743200"/>
                  <a:ext cx="3207657" cy="0"/>
                </a:xfrm>
                <a:prstGeom prst="line">
                  <a:avLst/>
                </a:prstGeom>
                <a:ln w="25400" cmpd="sng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288FCB7E-E66C-EA88-0BDB-3854F87405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86400" y="3200400"/>
                  <a:ext cx="3207657" cy="0"/>
                </a:xfrm>
                <a:prstGeom prst="line">
                  <a:avLst/>
                </a:prstGeom>
                <a:ln w="25400" cmpd="sng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46252E96-87F5-F275-4C13-AB50802EBC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86400" y="3657600"/>
                  <a:ext cx="3207657" cy="0"/>
                </a:xfrm>
                <a:prstGeom prst="line">
                  <a:avLst/>
                </a:prstGeom>
                <a:ln w="25400" cmpd="sng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F815DC9B-A663-BE85-1F19-69E53F140E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86400" y="4114800"/>
                  <a:ext cx="3207657" cy="0"/>
                </a:xfrm>
                <a:prstGeom prst="line">
                  <a:avLst/>
                </a:prstGeom>
                <a:ln w="25400" cmpd="sng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DE022F4E-514E-3CDC-E8D7-6939BF9CD4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86400" y="4572000"/>
                  <a:ext cx="3207657" cy="0"/>
                </a:xfrm>
                <a:prstGeom prst="line">
                  <a:avLst/>
                </a:prstGeom>
                <a:ln w="25400" cmpd="sng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5FC680ED-4E1D-C13A-96EF-2DB872DFC7B5}"/>
                    </a:ext>
                  </a:extLst>
                </p:cNvPr>
                <p:cNvGrpSpPr/>
                <p:nvPr/>
              </p:nvGrpSpPr>
              <p:grpSpPr>
                <a:xfrm rot="5400000">
                  <a:off x="5257800" y="2514600"/>
                  <a:ext cx="3200399" cy="1828801"/>
                  <a:chOff x="7474858" y="4695372"/>
                  <a:chExt cx="3200399" cy="1828801"/>
                </a:xfrm>
              </p:grpSpPr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C69FFE45-AAB4-899F-AC60-475A8C70A82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9075058" y="3095173"/>
                    <a:ext cx="0" cy="3200398"/>
                  </a:xfrm>
                  <a:prstGeom prst="line">
                    <a:avLst/>
                  </a:prstGeom>
                  <a:ln w="25400" cmpd="sng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369D8F5B-2793-6E36-D124-2412AAF2E2F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9075058" y="3552373"/>
                    <a:ext cx="0" cy="3200398"/>
                  </a:xfrm>
                  <a:prstGeom prst="line">
                    <a:avLst/>
                  </a:prstGeom>
                  <a:ln w="25400" cmpd="sng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Straight Connector 54">
                    <a:extLst>
                      <a:ext uri="{FF2B5EF4-FFF2-40B4-BE49-F238E27FC236}">
                        <a16:creationId xmlns:a16="http://schemas.microsoft.com/office/drawing/2014/main" id="{EEB4CF60-E9BC-2D7A-9DBC-51F82BB5530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9075058" y="4009573"/>
                    <a:ext cx="0" cy="3200398"/>
                  </a:xfrm>
                  <a:prstGeom prst="line">
                    <a:avLst/>
                  </a:prstGeom>
                  <a:ln w="25400" cmpd="sng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Straight Connector 55">
                    <a:extLst>
                      <a:ext uri="{FF2B5EF4-FFF2-40B4-BE49-F238E27FC236}">
                        <a16:creationId xmlns:a16="http://schemas.microsoft.com/office/drawing/2014/main" id="{DF5E56AD-2001-2BE1-FB59-264D7E781B1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9075058" y="4466773"/>
                    <a:ext cx="0" cy="3200399"/>
                  </a:xfrm>
                  <a:prstGeom prst="line">
                    <a:avLst/>
                  </a:prstGeom>
                  <a:ln w="25400" cmpd="sng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Connector 56">
                    <a:extLst>
                      <a:ext uri="{FF2B5EF4-FFF2-40B4-BE49-F238E27FC236}">
                        <a16:creationId xmlns:a16="http://schemas.microsoft.com/office/drawing/2014/main" id="{6065835B-8883-48AB-704C-7809946201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9071429" y="4920344"/>
                    <a:ext cx="7258" cy="3200399"/>
                  </a:xfrm>
                  <a:prstGeom prst="line">
                    <a:avLst/>
                  </a:prstGeom>
                  <a:ln w="25400" cmpd="sng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033D78C8-94EB-A667-6925-0CEF53D67A96}"/>
                </a:ext>
              </a:extLst>
            </p:cNvPr>
            <p:cNvSpPr/>
            <p:nvPr/>
          </p:nvSpPr>
          <p:spPr>
            <a:xfrm rot="21256563">
              <a:off x="8310690" y="2538293"/>
              <a:ext cx="1043784" cy="762173"/>
            </a:xfrm>
            <a:custGeom>
              <a:avLst/>
              <a:gdLst>
                <a:gd name="connsiteX0" fmla="*/ 0 w 2489200"/>
                <a:gd name="connsiteY0" fmla="*/ 1598071 h 2120144"/>
                <a:gd name="connsiteX1" fmla="*/ 478972 w 2489200"/>
                <a:gd name="connsiteY1" fmla="*/ 1656128 h 2120144"/>
                <a:gd name="connsiteX2" fmla="*/ 1400629 w 2489200"/>
                <a:gd name="connsiteY2" fmla="*/ 1500 h 2120144"/>
                <a:gd name="connsiteX3" fmla="*/ 2032000 w 2489200"/>
                <a:gd name="connsiteY3" fmla="*/ 1982700 h 2120144"/>
                <a:gd name="connsiteX4" fmla="*/ 2489200 w 2489200"/>
                <a:gd name="connsiteY4" fmla="*/ 1953671 h 2120144"/>
                <a:gd name="connsiteX5" fmla="*/ 2489200 w 2489200"/>
                <a:gd name="connsiteY5" fmla="*/ 1953671 h 2120144"/>
                <a:gd name="connsiteX6" fmla="*/ 2489200 w 2489200"/>
                <a:gd name="connsiteY6" fmla="*/ 1953671 h 212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89200" h="2120144">
                  <a:moveTo>
                    <a:pt x="0" y="1598071"/>
                  </a:moveTo>
                  <a:cubicBezTo>
                    <a:pt x="122767" y="1760147"/>
                    <a:pt x="245534" y="1922223"/>
                    <a:pt x="478972" y="1656128"/>
                  </a:cubicBezTo>
                  <a:cubicBezTo>
                    <a:pt x="712410" y="1390033"/>
                    <a:pt x="1141791" y="-52929"/>
                    <a:pt x="1400629" y="1500"/>
                  </a:cubicBezTo>
                  <a:cubicBezTo>
                    <a:pt x="1659467" y="55929"/>
                    <a:pt x="1850571" y="1657338"/>
                    <a:pt x="2032000" y="1982700"/>
                  </a:cubicBezTo>
                  <a:cubicBezTo>
                    <a:pt x="2213429" y="2308062"/>
                    <a:pt x="2489200" y="1953671"/>
                    <a:pt x="2489200" y="1953671"/>
                  </a:cubicBezTo>
                  <a:lnTo>
                    <a:pt x="2489200" y="1953671"/>
                  </a:lnTo>
                  <a:lnTo>
                    <a:pt x="2489200" y="1953671"/>
                  </a:lnTo>
                </a:path>
              </a:pathLst>
            </a:cu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srgbClr val="C00000"/>
                </a:solidFill>
                <a:latin typeface="Aptos" panose="020B0004020202020204" pitchFamily="34" charset="0"/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12263B8A-9EFA-D1B6-CEFD-034CDC687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173" y="458880"/>
            <a:ext cx="6967654" cy="604010"/>
          </a:xfrm>
        </p:spPr>
        <p:txBody>
          <a:bodyPr>
            <a:normAutofit/>
          </a:bodyPr>
          <a:lstStyle/>
          <a:p>
            <a:pPr algn="ctr"/>
            <a:r>
              <a:rPr lang="en-US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Wannier-function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CEA02B-9B05-58A6-4CD7-F78FEDBDA43C}"/>
                  </a:ext>
                </a:extLst>
              </p:cNvPr>
              <p:cNvSpPr txBox="1"/>
              <p:nvPr/>
            </p:nvSpPr>
            <p:spPr>
              <a:xfrm>
                <a:off x="6830982" y="4974479"/>
                <a:ext cx="5361018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92D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Central cell (site–zero)</a:t>
                </a:r>
                <a:endParaRPr lang="en-US" sz="2400" b="1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24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Wannier domain (WD) (capturing total charge of unit cell)</a:t>
                </a:r>
                <a:b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24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Wannier-like function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𝝎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CEA02B-9B05-58A6-4CD7-F78FEDBDA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0982" y="4974479"/>
                <a:ext cx="5361018" cy="1569660"/>
              </a:xfrm>
              <a:prstGeom prst="rect">
                <a:avLst/>
              </a:prstGeom>
              <a:blipFill>
                <a:blip r:embed="rId3"/>
                <a:stretch>
                  <a:fillRect t="-32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" name="TextBox 14">
            <a:extLst>
              <a:ext uri="{FF2B5EF4-FFF2-40B4-BE49-F238E27FC236}">
                <a16:creationId xmlns:a16="http://schemas.microsoft.com/office/drawing/2014/main" id="{0E7BF79C-64B1-4910-6279-49F7752DC8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0010329"/>
              </p:ext>
            </p:extLst>
          </p:nvPr>
        </p:nvGraphicFramePr>
        <p:xfrm>
          <a:off x="618583" y="1564528"/>
          <a:ext cx="6636809" cy="31149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6F4A0FF-4D39-BD8D-6CFE-9BEB8D628B3D}"/>
              </a:ext>
            </a:extLst>
          </p:cNvPr>
          <p:cNvSpPr txBox="1"/>
          <p:nvPr/>
        </p:nvSpPr>
        <p:spPr>
          <a:xfrm>
            <a:off x="618583" y="5181111"/>
            <a:ext cx="6098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do we construct site-zero Wannier functions that are orthogonal to all translated copies?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4388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577B2-34B2-C3CB-00F2-58A009F56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932C4-0469-9171-0EFC-B290E72A9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544" y="378766"/>
            <a:ext cx="10035424" cy="604010"/>
          </a:xfrm>
        </p:spPr>
        <p:txBody>
          <a:bodyPr>
            <a:noAutofit/>
          </a:bodyPr>
          <a:lstStyle/>
          <a:p>
            <a:pPr algn="ctr"/>
            <a:r>
              <a:rPr lang="en-US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Constructing Localized Wannier Subspace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1282583-9BD5-D656-CFFF-BC615FD175E0}"/>
                  </a:ext>
                </a:extLst>
              </p:cNvPr>
              <p:cNvSpPr txBox="1"/>
              <p:nvPr/>
            </p:nvSpPr>
            <p:spPr>
              <a:xfrm flipH="1">
                <a:off x="7953557" y="3960029"/>
                <a:ext cx="3812910" cy="16800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:endParaRPr lang="en-US" sz="2400" b="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≤0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⟨"/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400" b="0" i="0" u="none" strike="noStrike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1282583-9BD5-D656-CFFF-BC615FD17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953557" y="3960029"/>
                <a:ext cx="3812910" cy="1680075"/>
              </a:xfrm>
              <a:prstGeom prst="rect">
                <a:avLst/>
              </a:prstGeom>
              <a:blipFill>
                <a:blip r:embed="rId3"/>
                <a:stretch>
                  <a:fillRect t="-58647" b="-84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A78D44D-75B8-E2A8-15BB-025AED349111}"/>
                  </a:ext>
                </a:extLst>
              </p:cNvPr>
              <p:cNvSpPr txBox="1"/>
              <p:nvPr/>
            </p:nvSpPr>
            <p:spPr>
              <a:xfrm>
                <a:off x="1059544" y="1580609"/>
                <a:ext cx="5660589" cy="101681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𝚷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𝓣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b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⟩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⟨</m:t>
                          </m:r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𝓣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𝝉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  <m:sup/>
                            <m:e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  <m:t>𝝎</m:t>
                                      </m:r>
                                    </m:e>
                                    <m:sub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⟨</m:t>
                              </m:r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A78D44D-75B8-E2A8-15BB-025AED349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544" y="1580609"/>
                <a:ext cx="5660589" cy="1016817"/>
              </a:xfrm>
              <a:prstGeom prst="rect">
                <a:avLst/>
              </a:prstGeom>
              <a:blipFill>
                <a:blip r:embed="rId4"/>
                <a:stretch>
                  <a:fillRect l="-4933" t="-127160" b="-172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A71498-CBF5-5ACF-E888-011907FB2AF1}"/>
                  </a:ext>
                </a:extLst>
              </p:cNvPr>
              <p:cNvSpPr txBox="1"/>
              <p:nvPr/>
            </p:nvSpPr>
            <p:spPr>
              <a:xfrm>
                <a:off x="7485813" y="1739702"/>
                <a:ext cx="31518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“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𝝌</m:t>
                    </m:r>
                  </m:oMath>
                </a14:m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-finding operator”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A71498-CBF5-5ACF-E888-011907FB2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5813" y="1739702"/>
                <a:ext cx="3151825" cy="461665"/>
              </a:xfrm>
              <a:prstGeom prst="rect">
                <a:avLst/>
              </a:prstGeom>
              <a:blipFill>
                <a:blip r:embed="rId5"/>
                <a:stretch>
                  <a:fillRect l="-3213" t="-10526" r="-2410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F930118E-E473-BA72-0749-B42B1DA54563}"/>
                  </a:ext>
                </a:extLst>
              </p:cNvPr>
              <p:cNvSpPr/>
              <p:nvPr/>
            </p:nvSpPr>
            <p:spPr>
              <a:xfrm>
                <a:off x="3889838" y="5003931"/>
                <a:ext cx="3966737" cy="754323"/>
              </a:xfrm>
              <a:prstGeom prst="roundRect">
                <a:avLst/>
              </a:prstGeom>
              <a:gradFill>
                <a:gsLst>
                  <a:gs pos="0">
                    <a:schemeClr val="accent2">
                      <a:lumMod val="5000"/>
                      <a:lumOff val="95000"/>
                    </a:schemeClr>
                  </a:gs>
                  <a:gs pos="74000">
                    <a:schemeClr val="accent2">
                      <a:lumMod val="45000"/>
                      <a:lumOff val="55000"/>
                    </a:schemeClr>
                  </a:gs>
                  <a:gs pos="83000">
                    <a:schemeClr val="accent2">
                      <a:lumMod val="45000"/>
                      <a:lumOff val="55000"/>
                    </a:schemeClr>
                  </a:gs>
                  <a:gs pos="100000">
                    <a:schemeClr val="accent2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</m:d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𝒐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F930118E-E473-BA72-0749-B42B1DA545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9838" y="5003931"/>
                <a:ext cx="3966737" cy="754323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5083AE9-F4E0-D8B5-61C3-2CCC2584462A}"/>
              </a:ext>
            </a:extLst>
          </p:cNvPr>
          <p:cNvSpPr txBox="1"/>
          <p:nvPr/>
        </p:nvSpPr>
        <p:spPr>
          <a:xfrm>
            <a:off x="6817115" y="2163806"/>
            <a:ext cx="4779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Pederson and Lin, PRB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35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2273 (1987)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76541D-2A4F-91D3-BDB9-A802E30B47B5}"/>
              </a:ext>
            </a:extLst>
          </p:cNvPr>
          <p:cNvSpPr txBox="1"/>
          <p:nvPr/>
        </p:nvSpPr>
        <p:spPr>
          <a:xfrm>
            <a:off x="522515" y="2808960"/>
            <a:ext cx="112439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Eigenvectors with negative eigenvalues corresponds to the Wannier-like functions.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Negative or zero eigenvalues correspond to states that minimize overlap with neighboring cells.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These are the localized site-zero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860454F-BCA2-67AC-36BC-B3A4B8A844BC}"/>
                  </a:ext>
                </a:extLst>
              </p:cNvPr>
              <p:cNvSpPr txBox="1"/>
              <p:nvPr/>
            </p:nvSpPr>
            <p:spPr>
              <a:xfrm>
                <a:off x="522515" y="5868914"/>
                <a:ext cx="1124395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Project the full crystal Hamiltonian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onto the subspace orthogonal to the translated Wannier functions at site zero.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860454F-BCA2-67AC-36BC-B3A4B8A84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15" y="5868914"/>
                <a:ext cx="11243952" cy="830997"/>
              </a:xfrm>
              <a:prstGeom prst="rect">
                <a:avLst/>
              </a:prstGeom>
              <a:blipFill>
                <a:blip r:embed="rId7"/>
                <a:stretch>
                  <a:fillRect l="-790" t="-6061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8712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38E24-CD45-9993-D9C9-82B1F857D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37BEDC8-FE1C-5A6B-DA4A-55F79568D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570" y="138460"/>
            <a:ext cx="11412565" cy="1210459"/>
          </a:xfrm>
        </p:spPr>
        <p:txBody>
          <a:bodyPr>
            <a:noAutofit/>
          </a:bodyPr>
          <a:lstStyle/>
          <a:p>
            <a:pPr algn="ctr"/>
            <a:r>
              <a:rPr lang="en-US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Real-Space Construction of the Crystal Potential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18D81E1-E1A4-DD76-2E48-240257C1908E}"/>
                  </a:ext>
                </a:extLst>
              </p:cNvPr>
              <p:cNvSpPr txBox="1"/>
              <p:nvPr/>
            </p:nvSpPr>
            <p:spPr>
              <a:xfrm>
                <a:off x="418340" y="1563443"/>
                <a:ext cx="11386333" cy="4944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Total Energy per Cell:</a:t>
                </a:r>
                <a:endParaRPr lang="en-US" sz="2400" b="1" i="1" u="sng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𝑲𝑬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𝒙𝒄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d>
                          <m:d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supHide m:val="on"/>
                        <m:ctrlPr>
                          <a:rPr lang="en-US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24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d>
                          <m:dPr>
                            <m:ctrlPr>
                              <a:rPr lang="en-US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  <m:r>
                          <a:rPr lang="en-US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𝚽</m:t>
                        </m:r>
                        <m:d>
                          <m:dPr>
                            <m:ctrlPr>
                              <a:rPr lang="en-US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  <m:r>
                          <a:rPr lang="en-US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𝒅𝒓</m:t>
                        </m:r>
                      </m:e>
                    </m:nary>
                    <m:r>
                      <a:rPr lang="en-US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𝚽</m:t>
                        </m:r>
                        <m:d>
                          <m:dPr>
                            <m:ctrlPr>
                              <a:rPr lang="en-US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sz="24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acc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en-US" sz="24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Periodic charge density expressed entirely within the site zero cell.</a:t>
                </a:r>
                <a:endParaRPr lang="en-US" sz="2400" b="1" u="sng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b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Effective potential:</a:t>
                </a:r>
              </a:p>
              <a:p>
                <a:endParaRPr lang="en-U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b="1" i="0">
                        <a:latin typeface="Cambria Math" panose="02040503050406030204" pitchFamily="18" charset="0"/>
                      </a:rPr>
                      <m:t>𝚽</m:t>
                    </m:r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𝐫</m:t>
                        </m:r>
                      </m:e>
                    </m:d>
                    <m:r>
                      <a:rPr lang="en-US" sz="2400" b="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𝑊𝐷</m:t>
                        </m:r>
                      </m:sub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subHide m:val="on"/>
                                <m:supHide m:val="o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e>
                                    </m:d>
                                  </m:num>
                                  <m:den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e>
                                    </m:d>
                                  </m:den>
                                </m:f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𝑑𝑟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nary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−(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)|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br>
                  <a:rPr lang="en-US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</a:p>
              <a:p>
                <a:r>
                  <a:rPr lang="en-US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∉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𝑊𝐷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𝑙𝑚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𝑙𝑚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acc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lvl="0">
                  <a:defRPr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:b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	           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18D81E1-E1A4-DD76-2E48-240257C19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40" y="1563443"/>
                <a:ext cx="11386333" cy="4944943"/>
              </a:xfrm>
              <a:prstGeom prst="rect">
                <a:avLst/>
              </a:prstGeom>
              <a:blipFill>
                <a:blip r:embed="rId3"/>
                <a:stretch>
                  <a:fillRect l="-892" t="-3581" b="-10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A763B000-DCCA-E2A1-098B-430A23559F03}"/>
              </a:ext>
            </a:extLst>
          </p:cNvPr>
          <p:cNvGrpSpPr/>
          <p:nvPr/>
        </p:nvGrpSpPr>
        <p:grpSpPr>
          <a:xfrm>
            <a:off x="8040914" y="3399972"/>
            <a:ext cx="3603356" cy="3000828"/>
            <a:chOff x="8040914" y="3399972"/>
            <a:chExt cx="3603356" cy="300082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3009093-78D7-B805-B17B-2F8AB8101FB6}"/>
                </a:ext>
              </a:extLst>
            </p:cNvPr>
            <p:cNvGrpSpPr/>
            <p:nvPr/>
          </p:nvGrpSpPr>
          <p:grpSpPr>
            <a:xfrm>
              <a:off x="8040914" y="3399972"/>
              <a:ext cx="3603356" cy="3000828"/>
              <a:chOff x="3156857" y="2249715"/>
              <a:chExt cx="3207657" cy="3200399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F9F86611-8EB7-1B36-E53C-916DBF903D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92800" y="2249716"/>
                <a:ext cx="0" cy="3200398"/>
              </a:xfrm>
              <a:prstGeom prst="line">
                <a:avLst/>
              </a:prstGeom>
              <a:ln w="25400" cmpd="sng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654AC3E2-534B-6ADB-E2A0-290A7751F3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56857" y="2706914"/>
                <a:ext cx="3207657" cy="0"/>
              </a:xfrm>
              <a:prstGeom prst="line">
                <a:avLst/>
              </a:prstGeom>
              <a:ln w="25400" cmpd="sng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DBE3F08-12D3-1F67-F741-1C3F554534F7}"/>
                  </a:ext>
                </a:extLst>
              </p:cNvPr>
              <p:cNvSpPr/>
              <p:nvPr/>
            </p:nvSpPr>
            <p:spPr>
              <a:xfrm>
                <a:off x="4071257" y="3164115"/>
                <a:ext cx="1371600" cy="1371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74144"/>
                </a:schemeClr>
              </a:solidFill>
              <a:ln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9FB3AF5-B781-AC69-0931-51F59DD181CD}"/>
                  </a:ext>
                </a:extLst>
              </p:cNvPr>
              <p:cNvSpPr/>
              <p:nvPr/>
            </p:nvSpPr>
            <p:spPr>
              <a:xfrm>
                <a:off x="4528457" y="3621314"/>
                <a:ext cx="457200" cy="45720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47E47669-6F96-F28B-CDB0-EA7273B76B19}"/>
                  </a:ext>
                </a:extLst>
              </p:cNvPr>
              <p:cNvGrpSpPr/>
              <p:nvPr/>
            </p:nvGrpSpPr>
            <p:grpSpPr>
              <a:xfrm>
                <a:off x="3156857" y="2249715"/>
                <a:ext cx="3207657" cy="3200399"/>
                <a:chOff x="5486400" y="1828801"/>
                <a:chExt cx="3207657" cy="3200399"/>
              </a:xfrm>
            </p:grpSpPr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C40BE6A5-FB61-6BD4-F427-32DC90CAE5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86400" y="2743200"/>
                  <a:ext cx="3207657" cy="0"/>
                </a:xfrm>
                <a:prstGeom prst="line">
                  <a:avLst/>
                </a:prstGeom>
                <a:ln w="25400" cmpd="sng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7C6B6982-3D9A-2567-CA1F-564FC57981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86400" y="3200400"/>
                  <a:ext cx="3207657" cy="0"/>
                </a:xfrm>
                <a:prstGeom prst="line">
                  <a:avLst/>
                </a:prstGeom>
                <a:ln w="25400" cmpd="sng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65275D74-9887-1CEE-2164-E797ED04F9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86400" y="3657600"/>
                  <a:ext cx="3207657" cy="0"/>
                </a:xfrm>
                <a:prstGeom prst="line">
                  <a:avLst/>
                </a:prstGeom>
                <a:ln w="25400" cmpd="sng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8E70753E-F642-CD82-F1F5-C70A4BD7DB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86400" y="4114800"/>
                  <a:ext cx="3207657" cy="0"/>
                </a:xfrm>
                <a:prstGeom prst="line">
                  <a:avLst/>
                </a:prstGeom>
                <a:ln w="25400" cmpd="sng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BA3EFE7F-34CA-0ECF-04FE-38AE32CF59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86400" y="4572000"/>
                  <a:ext cx="3207657" cy="0"/>
                </a:xfrm>
                <a:prstGeom prst="line">
                  <a:avLst/>
                </a:prstGeom>
                <a:ln w="25400" cmpd="sng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0E6ECBDD-F301-F3AE-A27F-C29A3EFC015A}"/>
                    </a:ext>
                  </a:extLst>
                </p:cNvPr>
                <p:cNvGrpSpPr/>
                <p:nvPr/>
              </p:nvGrpSpPr>
              <p:grpSpPr>
                <a:xfrm rot="5400000">
                  <a:off x="5257800" y="2514600"/>
                  <a:ext cx="3200399" cy="1828801"/>
                  <a:chOff x="7474858" y="4695372"/>
                  <a:chExt cx="3200399" cy="1828801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18F5FB4B-9AD4-6282-93D6-FBFEE35C93F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9075058" y="3095173"/>
                    <a:ext cx="0" cy="3200398"/>
                  </a:xfrm>
                  <a:prstGeom prst="line">
                    <a:avLst/>
                  </a:prstGeom>
                  <a:ln w="25400" cmpd="sng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1941961E-9785-9F68-6286-FBFDCF5234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9075058" y="3552373"/>
                    <a:ext cx="0" cy="3200398"/>
                  </a:xfrm>
                  <a:prstGeom prst="line">
                    <a:avLst/>
                  </a:prstGeom>
                  <a:ln w="25400" cmpd="sng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ACAF677F-DCCF-257E-1C00-8FF97C567F1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9075058" y="4009573"/>
                    <a:ext cx="0" cy="3200398"/>
                  </a:xfrm>
                  <a:prstGeom prst="line">
                    <a:avLst/>
                  </a:prstGeom>
                  <a:ln w="25400" cmpd="sng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25F672C7-716C-C153-EDD4-23B4971836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9075058" y="4466773"/>
                    <a:ext cx="0" cy="3200399"/>
                  </a:xfrm>
                  <a:prstGeom prst="line">
                    <a:avLst/>
                  </a:prstGeom>
                  <a:ln w="25400" cmpd="sng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51D7CA47-A3FD-F4B5-FBF4-BF3AC8B469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9071429" y="4920344"/>
                    <a:ext cx="7258" cy="3200399"/>
                  </a:xfrm>
                  <a:prstGeom prst="line">
                    <a:avLst/>
                  </a:prstGeom>
                  <a:ln w="25400" cmpd="sng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FAC04D6-DDD0-0BB4-7598-753CAF940FA1}"/>
                </a:ext>
              </a:extLst>
            </p:cNvPr>
            <p:cNvSpPr/>
            <p:nvPr/>
          </p:nvSpPr>
          <p:spPr>
            <a:xfrm rot="21256563">
              <a:off x="9222029" y="4444651"/>
              <a:ext cx="1172546" cy="714645"/>
            </a:xfrm>
            <a:custGeom>
              <a:avLst/>
              <a:gdLst>
                <a:gd name="connsiteX0" fmla="*/ 0 w 2489200"/>
                <a:gd name="connsiteY0" fmla="*/ 1598071 h 2120144"/>
                <a:gd name="connsiteX1" fmla="*/ 478972 w 2489200"/>
                <a:gd name="connsiteY1" fmla="*/ 1656128 h 2120144"/>
                <a:gd name="connsiteX2" fmla="*/ 1400629 w 2489200"/>
                <a:gd name="connsiteY2" fmla="*/ 1500 h 2120144"/>
                <a:gd name="connsiteX3" fmla="*/ 2032000 w 2489200"/>
                <a:gd name="connsiteY3" fmla="*/ 1982700 h 2120144"/>
                <a:gd name="connsiteX4" fmla="*/ 2489200 w 2489200"/>
                <a:gd name="connsiteY4" fmla="*/ 1953671 h 2120144"/>
                <a:gd name="connsiteX5" fmla="*/ 2489200 w 2489200"/>
                <a:gd name="connsiteY5" fmla="*/ 1953671 h 2120144"/>
                <a:gd name="connsiteX6" fmla="*/ 2489200 w 2489200"/>
                <a:gd name="connsiteY6" fmla="*/ 1953671 h 212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89200" h="2120144">
                  <a:moveTo>
                    <a:pt x="0" y="1598071"/>
                  </a:moveTo>
                  <a:cubicBezTo>
                    <a:pt x="122767" y="1760147"/>
                    <a:pt x="245534" y="1922223"/>
                    <a:pt x="478972" y="1656128"/>
                  </a:cubicBezTo>
                  <a:cubicBezTo>
                    <a:pt x="712410" y="1390033"/>
                    <a:pt x="1141791" y="-52929"/>
                    <a:pt x="1400629" y="1500"/>
                  </a:cubicBezTo>
                  <a:cubicBezTo>
                    <a:pt x="1659467" y="55929"/>
                    <a:pt x="1850571" y="1657338"/>
                    <a:pt x="2032000" y="1982700"/>
                  </a:cubicBezTo>
                  <a:cubicBezTo>
                    <a:pt x="2213429" y="2308062"/>
                    <a:pt x="2489200" y="1953671"/>
                    <a:pt x="2489200" y="1953671"/>
                  </a:cubicBezTo>
                  <a:lnTo>
                    <a:pt x="2489200" y="1953671"/>
                  </a:lnTo>
                  <a:lnTo>
                    <a:pt x="2489200" y="1953671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A9E422C4-4272-2FDC-68DF-15FAE5D00223}"/>
                </a:ext>
              </a:extLst>
            </p:cNvPr>
            <p:cNvSpPr/>
            <p:nvPr/>
          </p:nvSpPr>
          <p:spPr>
            <a:xfrm rot="21256563">
              <a:off x="9735631" y="4453056"/>
              <a:ext cx="1172546" cy="714645"/>
            </a:xfrm>
            <a:custGeom>
              <a:avLst/>
              <a:gdLst>
                <a:gd name="connsiteX0" fmla="*/ 0 w 2489200"/>
                <a:gd name="connsiteY0" fmla="*/ 1598071 h 2120144"/>
                <a:gd name="connsiteX1" fmla="*/ 478972 w 2489200"/>
                <a:gd name="connsiteY1" fmla="*/ 1656128 h 2120144"/>
                <a:gd name="connsiteX2" fmla="*/ 1400629 w 2489200"/>
                <a:gd name="connsiteY2" fmla="*/ 1500 h 2120144"/>
                <a:gd name="connsiteX3" fmla="*/ 2032000 w 2489200"/>
                <a:gd name="connsiteY3" fmla="*/ 1982700 h 2120144"/>
                <a:gd name="connsiteX4" fmla="*/ 2489200 w 2489200"/>
                <a:gd name="connsiteY4" fmla="*/ 1953671 h 2120144"/>
                <a:gd name="connsiteX5" fmla="*/ 2489200 w 2489200"/>
                <a:gd name="connsiteY5" fmla="*/ 1953671 h 2120144"/>
                <a:gd name="connsiteX6" fmla="*/ 2489200 w 2489200"/>
                <a:gd name="connsiteY6" fmla="*/ 1953671 h 212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89200" h="2120144">
                  <a:moveTo>
                    <a:pt x="0" y="1598071"/>
                  </a:moveTo>
                  <a:cubicBezTo>
                    <a:pt x="122767" y="1760147"/>
                    <a:pt x="245534" y="1922223"/>
                    <a:pt x="478972" y="1656128"/>
                  </a:cubicBezTo>
                  <a:cubicBezTo>
                    <a:pt x="712410" y="1390033"/>
                    <a:pt x="1141791" y="-52929"/>
                    <a:pt x="1400629" y="1500"/>
                  </a:cubicBezTo>
                  <a:cubicBezTo>
                    <a:pt x="1659467" y="55929"/>
                    <a:pt x="1850571" y="1657338"/>
                    <a:pt x="2032000" y="1982700"/>
                  </a:cubicBezTo>
                  <a:cubicBezTo>
                    <a:pt x="2213429" y="2308062"/>
                    <a:pt x="2489200" y="1953671"/>
                    <a:pt x="2489200" y="1953671"/>
                  </a:cubicBezTo>
                  <a:lnTo>
                    <a:pt x="2489200" y="1953671"/>
                  </a:lnTo>
                  <a:lnTo>
                    <a:pt x="2489200" y="1953671"/>
                  </a:lnTo>
                </a:path>
              </a:pathLst>
            </a:custGeom>
            <a:noFill/>
            <a:ln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8A12688-3F6F-07B1-AC0F-B1517011ECA2}"/>
                </a:ext>
              </a:extLst>
            </p:cNvPr>
            <p:cNvSpPr/>
            <p:nvPr/>
          </p:nvSpPr>
          <p:spPr>
            <a:xfrm rot="21256563">
              <a:off x="8708427" y="4453058"/>
              <a:ext cx="1172546" cy="714645"/>
            </a:xfrm>
            <a:custGeom>
              <a:avLst/>
              <a:gdLst>
                <a:gd name="connsiteX0" fmla="*/ 0 w 2489200"/>
                <a:gd name="connsiteY0" fmla="*/ 1598071 h 2120144"/>
                <a:gd name="connsiteX1" fmla="*/ 478972 w 2489200"/>
                <a:gd name="connsiteY1" fmla="*/ 1656128 h 2120144"/>
                <a:gd name="connsiteX2" fmla="*/ 1400629 w 2489200"/>
                <a:gd name="connsiteY2" fmla="*/ 1500 h 2120144"/>
                <a:gd name="connsiteX3" fmla="*/ 2032000 w 2489200"/>
                <a:gd name="connsiteY3" fmla="*/ 1982700 h 2120144"/>
                <a:gd name="connsiteX4" fmla="*/ 2489200 w 2489200"/>
                <a:gd name="connsiteY4" fmla="*/ 1953671 h 2120144"/>
                <a:gd name="connsiteX5" fmla="*/ 2489200 w 2489200"/>
                <a:gd name="connsiteY5" fmla="*/ 1953671 h 2120144"/>
                <a:gd name="connsiteX6" fmla="*/ 2489200 w 2489200"/>
                <a:gd name="connsiteY6" fmla="*/ 1953671 h 212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89200" h="2120144">
                  <a:moveTo>
                    <a:pt x="0" y="1598071"/>
                  </a:moveTo>
                  <a:cubicBezTo>
                    <a:pt x="122767" y="1760147"/>
                    <a:pt x="245534" y="1922223"/>
                    <a:pt x="478972" y="1656128"/>
                  </a:cubicBezTo>
                  <a:cubicBezTo>
                    <a:pt x="712410" y="1390033"/>
                    <a:pt x="1141791" y="-52929"/>
                    <a:pt x="1400629" y="1500"/>
                  </a:cubicBezTo>
                  <a:cubicBezTo>
                    <a:pt x="1659467" y="55929"/>
                    <a:pt x="1850571" y="1657338"/>
                    <a:pt x="2032000" y="1982700"/>
                  </a:cubicBezTo>
                  <a:cubicBezTo>
                    <a:pt x="2213429" y="2308062"/>
                    <a:pt x="2489200" y="1953671"/>
                    <a:pt x="2489200" y="1953671"/>
                  </a:cubicBezTo>
                  <a:lnTo>
                    <a:pt x="2489200" y="1953671"/>
                  </a:lnTo>
                  <a:lnTo>
                    <a:pt x="2489200" y="1953671"/>
                  </a:lnTo>
                </a:path>
              </a:pathLst>
            </a:custGeom>
            <a:noFill/>
            <a:ln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1" name="Alternate Process 30">
            <a:extLst>
              <a:ext uri="{FF2B5EF4-FFF2-40B4-BE49-F238E27FC236}">
                <a16:creationId xmlns:a16="http://schemas.microsoft.com/office/drawing/2014/main" id="{21B990BB-3FAA-19F9-4055-98364D0599F2}"/>
              </a:ext>
            </a:extLst>
          </p:cNvPr>
          <p:cNvSpPr/>
          <p:nvPr/>
        </p:nvSpPr>
        <p:spPr>
          <a:xfrm>
            <a:off x="3510294" y="4005943"/>
            <a:ext cx="3360917" cy="898550"/>
          </a:xfrm>
          <a:prstGeom prst="flowChartAlternateProcess">
            <a:avLst/>
          </a:prstGeom>
          <a:solidFill>
            <a:srgbClr val="00B0F0">
              <a:alpha val="3535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48C591-B069-7853-0B5F-96C3F391971D}"/>
              </a:ext>
            </a:extLst>
          </p:cNvPr>
          <p:cNvSpPr txBox="1"/>
          <p:nvPr/>
        </p:nvSpPr>
        <p:spPr>
          <a:xfrm>
            <a:off x="4012482" y="3573448"/>
            <a:ext cx="35157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explicit WD Coulomb terms</a:t>
            </a:r>
            <a:endParaRPr lang="en-US" sz="20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37F235-B810-909F-92E0-89012D94804F}"/>
              </a:ext>
            </a:extLst>
          </p:cNvPr>
          <p:cNvSpPr txBox="1"/>
          <p:nvPr/>
        </p:nvSpPr>
        <p:spPr>
          <a:xfrm>
            <a:off x="2424731" y="5772055"/>
            <a:ext cx="34868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multipole long-range terms</a:t>
            </a:r>
            <a:endParaRPr lang="en-US" sz="2000" b="1" dirty="0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ECEC760-E3B9-871B-9D41-41B26ED5039C}"/>
              </a:ext>
            </a:extLst>
          </p:cNvPr>
          <p:cNvSpPr/>
          <p:nvPr/>
        </p:nvSpPr>
        <p:spPr>
          <a:xfrm>
            <a:off x="9588993" y="4801974"/>
            <a:ext cx="506322" cy="321162"/>
          </a:xfrm>
          <a:prstGeom prst="round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158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A1939-883F-79A8-3EB9-893C56DC9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807" y="2837859"/>
            <a:ext cx="2987526" cy="899106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SCF Loop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14DDA18-F20A-F691-8E7F-13252BEA81D3}"/>
              </a:ext>
            </a:extLst>
          </p:cNvPr>
          <p:cNvGrpSpPr/>
          <p:nvPr/>
        </p:nvGrpSpPr>
        <p:grpSpPr>
          <a:xfrm>
            <a:off x="408709" y="374073"/>
            <a:ext cx="10932688" cy="6483927"/>
            <a:chOff x="1861398" y="1396314"/>
            <a:chExt cx="10539845" cy="509656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9EAD021-C355-F897-51BA-2B3A9C45FB24}"/>
                </a:ext>
              </a:extLst>
            </p:cNvPr>
            <p:cNvGrpSpPr/>
            <p:nvPr/>
          </p:nvGrpSpPr>
          <p:grpSpPr>
            <a:xfrm>
              <a:off x="1861398" y="1396314"/>
              <a:ext cx="9959547" cy="5096561"/>
              <a:chOff x="2602454" y="554414"/>
              <a:chExt cx="6487819" cy="6303586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7" name="Diagram 6">
                    <a:extLst>
                      <a:ext uri="{FF2B5EF4-FFF2-40B4-BE49-F238E27FC236}">
                        <a16:creationId xmlns:a16="http://schemas.microsoft.com/office/drawing/2014/main" id="{D97D0A0E-9EA4-CD79-EB8E-945371B3E925}"/>
                      </a:ext>
                    </a:extLst>
                  </p:cNvPr>
                  <p:cNvGraphicFramePr/>
                  <p:nvPr>
                    <p:extLst>
                      <p:ext uri="{D42A27DB-BD31-4B8C-83A1-F6EECF244321}">
                        <p14:modId xmlns:p14="http://schemas.microsoft.com/office/powerpoint/2010/main" val="1702737091"/>
                      </p:ext>
                    </p:extLst>
                  </p:nvPr>
                </p:nvGraphicFramePr>
                <p:xfrm>
                  <a:off x="2602454" y="554414"/>
                  <a:ext cx="6487819" cy="6303586"/>
                </p:xfrm>
                <a:graphic>
                  <a:graphicData uri="http://schemas.openxmlformats.org/drawingml/2006/diagram">
                    <dgm:relIds xmlns:dgm="http://schemas.openxmlformats.org/drawingml/2006/diagram" xmlns:r="http://schemas.openxmlformats.org/officeDocument/2006/relationships" r:dm="rId3" r:lo="rId4" r:qs="rId5" r:cs="rId6"/>
                  </a:graphicData>
                </a:graphic>
              </p:graphicFrame>
            </mc:Choice>
            <mc:Fallback xmlns="">
              <p:graphicFrame>
                <p:nvGraphicFramePr>
                  <p:cNvPr id="7" name="Diagram 6">
                    <a:extLst>
                      <a:ext uri="{FF2B5EF4-FFF2-40B4-BE49-F238E27FC236}">
                        <a16:creationId xmlns:a16="http://schemas.microsoft.com/office/drawing/2014/main" id="{D97D0A0E-9EA4-CD79-EB8E-945371B3E925}"/>
                      </a:ext>
                    </a:extLst>
                  </p:cNvPr>
                  <p:cNvGraphicFramePr/>
                  <p:nvPr>
                    <p:extLst>
                      <p:ext uri="{D42A27DB-BD31-4B8C-83A1-F6EECF244321}">
                        <p14:modId xmlns:p14="http://schemas.microsoft.com/office/powerpoint/2010/main" val="1702737091"/>
                      </p:ext>
                    </p:extLst>
                  </p:nvPr>
                </p:nvGraphicFramePr>
                <p:xfrm>
                  <a:off x="2602454" y="554414"/>
                  <a:ext cx="6487819" cy="6303586"/>
                </p:xfrm>
                <a:graphic>
                  <a:graphicData uri="http://schemas.openxmlformats.org/drawingml/2006/diagram">
                    <dgm:relIds xmlns:dgm="http://schemas.openxmlformats.org/drawingml/2006/diagram" xmlns:r="http://schemas.openxmlformats.org/officeDocument/2006/relationships" r:dm="rId8" r:lo="rId9" r:qs="rId10" r:cs="rId11"/>
                  </a:graphicData>
                </a:graphic>
              </p:graphicFrame>
            </mc:Fallback>
          </mc:AlternateContent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BC6FC6-8786-4CA1-D977-90A6D7B752A4}"/>
                  </a:ext>
                </a:extLst>
              </p:cNvPr>
              <p:cNvSpPr txBox="1"/>
              <p:nvPr/>
            </p:nvSpPr>
            <p:spPr>
              <a:xfrm>
                <a:off x="5480119" y="5533098"/>
                <a:ext cx="662662" cy="500459"/>
              </a:xfrm>
              <a:prstGeom prst="rect">
                <a:avLst/>
              </a:prstGeom>
              <a:noFill/>
              <a:ln>
                <a:noFill/>
                <a:headEnd type="stealth"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200" b="1" dirty="0">
                    <a:solidFill>
                      <a:schemeClr val="accent6"/>
                    </a:solidFill>
                    <a:latin typeface="Aptos" panose="020B0004020202020204" pitchFamily="34" charset="0"/>
                  </a:rPr>
                  <a:t>YES</a:t>
                </a:r>
              </a:p>
            </p:txBody>
          </p:sp>
        </p:grpSp>
        <p:sp>
          <p:nvSpPr>
            <p:cNvPr id="5" name="Left Bracket 4">
              <a:extLst>
                <a:ext uri="{FF2B5EF4-FFF2-40B4-BE49-F238E27FC236}">
                  <a16:creationId xmlns:a16="http://schemas.microsoft.com/office/drawing/2014/main" id="{894DCCA2-B864-8D66-C103-CAF13479140D}"/>
                </a:ext>
              </a:extLst>
            </p:cNvPr>
            <p:cNvSpPr/>
            <p:nvPr/>
          </p:nvSpPr>
          <p:spPr>
            <a:xfrm rot="10800000">
              <a:off x="10456632" y="1952798"/>
              <a:ext cx="1017262" cy="3873501"/>
            </a:xfrm>
            <a:prstGeom prst="leftBracket">
              <a:avLst/>
            </a:prstGeom>
            <a:ln w="63500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200">
                <a:latin typeface="Aptos" panose="020B00040202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F714A97-0F72-D5BF-2C0F-2BFFDBD64731}"/>
                </a:ext>
              </a:extLst>
            </p:cNvPr>
            <p:cNvSpPr txBox="1"/>
            <p:nvPr/>
          </p:nvSpPr>
          <p:spPr>
            <a:xfrm>
              <a:off x="11587698" y="3674104"/>
              <a:ext cx="813545" cy="430887"/>
            </a:xfrm>
            <a:prstGeom prst="rect">
              <a:avLst/>
            </a:prstGeom>
            <a:noFill/>
            <a:ln>
              <a:noFill/>
              <a:headEnd type="stealth"/>
            </a:ln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solidFill>
                    <a:srgbClr val="FF0000"/>
                  </a:solidFill>
                  <a:latin typeface="Aptos" panose="020B0004020202020204" pitchFamily="34" charset="0"/>
                </a:rPr>
                <a:t>NO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2357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09AC9-FAC0-8DAC-63BD-7CD55CEA7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605" y="365125"/>
            <a:ext cx="10917795" cy="880745"/>
          </a:xfrm>
        </p:spPr>
        <p:txBody>
          <a:bodyPr>
            <a:normAutofit/>
          </a:bodyPr>
          <a:lstStyle/>
          <a:p>
            <a:pPr algn="ctr"/>
            <a:r>
              <a:rPr lang="en-US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Bandstructure 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5FF526-0DCD-87CF-83CD-5AA29D2826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4605" y="1566427"/>
                <a:ext cx="7163213" cy="108846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0" smtClean="0">
                                      <a:latin typeface="Cambria Math" panose="02040503050406030204" pitchFamily="18" charset="0"/>
                                    </a:rPr>
                                    <m:t>𝐓</m:t>
                                  </m:r>
                                </m:e>
                                <m:sub>
                                  <m:r>
                                    <a:rPr lang="en-US" sz="2400" b="1" i="0" smtClean="0">
                                      <a:latin typeface="Cambria Math" panose="02040503050406030204" pitchFamily="18" charset="0"/>
                                    </a:rPr>
                                    <m:t>𝐦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5FF526-0DCD-87CF-83CD-5AA29D2826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4605" y="1566427"/>
                <a:ext cx="7163213" cy="1088467"/>
              </a:xfrm>
              <a:blipFill>
                <a:blip r:embed="rId3"/>
                <a:stretch>
                  <a:fillRect t="-124138" b="-1482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371695-C286-3EBC-C0BC-680A260A275C}"/>
                  </a:ext>
                </a:extLst>
              </p:cNvPr>
              <p:cNvSpPr txBox="1"/>
              <p:nvPr/>
            </p:nvSpPr>
            <p:spPr>
              <a:xfrm>
                <a:off x="838200" y="3564722"/>
                <a:ext cx="10515600" cy="4885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𝐤</m:t>
                            </m:r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>
                                    <a:latin typeface="Cambria Math" panose="02040503050406030204" pitchFamily="18" charset="0"/>
                                  </a:rPr>
                                  <m:t>𝐓</m:t>
                                </m:r>
                              </m:e>
                              <m:sub>
                                <m:r>
                                  <a:rPr lang="en-US" sz="2400" b="1">
                                    <a:latin typeface="Cambria Math" panose="02040503050406030204" pitchFamily="18" charset="0"/>
                                  </a:rPr>
                                  <m:t>𝐦</m:t>
                                </m:r>
                              </m:sub>
                            </m:sSub>
                          </m:sup>
                        </m:sSup>
                      </m:e>
                    </m:nary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𝐤</m:t>
                            </m:r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>
                                    <a:latin typeface="Cambria Math" panose="02040503050406030204" pitchFamily="18" charset="0"/>
                                  </a:rPr>
                                  <m:t>𝐓</m:t>
                                </m:r>
                              </m:e>
                              <m:sub>
                                <m:r>
                                  <a:rPr lang="en-US" sz="2400" b="1">
                                    <a:latin typeface="Cambria Math" panose="02040503050406030204" pitchFamily="18" charset="0"/>
                                  </a:rPr>
                                  <m:t>𝐦</m:t>
                                </m:r>
                              </m:sub>
                            </m:sSub>
                          </m:sup>
                        </m:sSup>
                      </m:e>
                    </m:nary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371695-C286-3EBC-C0BC-680A260A2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564722"/>
                <a:ext cx="10515600" cy="488595"/>
              </a:xfrm>
              <a:prstGeom prst="rect">
                <a:avLst/>
              </a:prstGeom>
              <a:blipFill>
                <a:blip r:embed="rId4"/>
                <a:stretch>
                  <a:fillRect t="-112500" b="-17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BDDE3D5-9DE2-C11B-54B2-323EAC9D9962}"/>
              </a:ext>
            </a:extLst>
          </p:cNvPr>
          <p:cNvSpPr txBox="1"/>
          <p:nvPr/>
        </p:nvSpPr>
        <p:spPr>
          <a:xfrm>
            <a:off x="6096000" y="5420777"/>
            <a:ext cx="53527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(Band energies are obtained by solving eigenvalue problem)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AC43E5F2-B6B7-B7B0-0F6D-F4ED070FE1AD}"/>
                  </a:ext>
                </a:extLst>
              </p:cNvPr>
              <p:cNvSpPr/>
              <p:nvPr/>
            </p:nvSpPr>
            <p:spPr>
              <a:xfrm>
                <a:off x="1943488" y="5241479"/>
                <a:ext cx="3840480" cy="1010295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>
                      <a:lumMod val="5000"/>
                      <a:lumOff val="95000"/>
                    </a:schemeClr>
                  </a:gs>
                  <a:gs pos="74000">
                    <a:schemeClr val="accent2">
                      <a:lumMod val="45000"/>
                      <a:lumOff val="55000"/>
                    </a:schemeClr>
                  </a:gs>
                  <a:gs pos="83000">
                    <a:schemeClr val="accent2">
                      <a:lumMod val="45000"/>
                      <a:lumOff val="55000"/>
                    </a:schemeClr>
                  </a:gs>
                  <a:gs pos="100000">
                    <a:schemeClr val="accent2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e>
                      </m:d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𝐂</m:t>
                          </m:r>
                        </m:e>
                        <m:sub>
                          <m:r>
                            <a:rPr lang="en-US" sz="2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𝐧𝐤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e>
                      </m:d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𝐂</m:t>
                          </m:r>
                        </m:e>
                        <m:sub>
                          <m:r>
                            <a:rPr lang="en-US" sz="2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𝐧𝐤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AC43E5F2-B6B7-B7B0-0F6D-F4ED070FE1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488" y="5241479"/>
                <a:ext cx="3840480" cy="101029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Line Callout 2 (Border and Accent Bar) 7">
                <a:extLst>
                  <a:ext uri="{FF2B5EF4-FFF2-40B4-BE49-F238E27FC236}">
                    <a16:creationId xmlns:a16="http://schemas.microsoft.com/office/drawing/2014/main" id="{E4B31775-862A-FC03-558B-15B194650784}"/>
                  </a:ext>
                </a:extLst>
              </p:cNvPr>
              <p:cNvSpPr/>
              <p:nvPr/>
            </p:nvSpPr>
            <p:spPr>
              <a:xfrm>
                <a:off x="7932420" y="1543050"/>
                <a:ext cx="3421380" cy="1223972"/>
              </a:xfrm>
              <a:prstGeom prst="accentBorderCallout2">
                <a:avLst>
                  <a:gd name="adj1" fmla="val 44908"/>
                  <a:gd name="adj2" fmla="val -8333"/>
                  <a:gd name="adj3" fmla="val -17409"/>
                  <a:gd name="adj4" fmla="val -39182"/>
                  <a:gd name="adj5" fmla="val 18810"/>
                  <a:gd name="adj6" fmla="val -62569"/>
                </a:avLst>
              </a:prstGeom>
              <a:gradFill>
                <a:gsLst>
                  <a:gs pos="0">
                    <a:schemeClr val="accent2">
                      <a:lumMod val="5000"/>
                      <a:lumOff val="95000"/>
                    </a:schemeClr>
                  </a:gs>
                  <a:gs pos="74000">
                    <a:schemeClr val="accent2">
                      <a:lumMod val="45000"/>
                      <a:lumOff val="55000"/>
                    </a:schemeClr>
                  </a:gs>
                  <a:gs pos="83000">
                    <a:schemeClr val="accent2">
                      <a:lumMod val="45000"/>
                      <a:lumOff val="55000"/>
                    </a:schemeClr>
                  </a:gs>
                  <a:gs pos="100000">
                    <a:schemeClr val="accent2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Screw Operator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rotation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𝐓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translation)</a:t>
                </a:r>
              </a:p>
            </p:txBody>
          </p:sp>
        </mc:Choice>
        <mc:Fallback xmlns="">
          <p:sp>
            <p:nvSpPr>
              <p:cNvPr id="8" name="Line Callout 2 (Border and Accent Bar) 7">
                <a:extLst>
                  <a:ext uri="{FF2B5EF4-FFF2-40B4-BE49-F238E27FC236}">
                    <a16:creationId xmlns:a16="http://schemas.microsoft.com/office/drawing/2014/main" id="{E4B31775-862A-FC03-558B-15B1946507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2420" y="1543050"/>
                <a:ext cx="3421380" cy="1223972"/>
              </a:xfrm>
              <a:prstGeom prst="accentBorderCallout2">
                <a:avLst>
                  <a:gd name="adj1" fmla="val 44908"/>
                  <a:gd name="adj2" fmla="val -8333"/>
                  <a:gd name="adj3" fmla="val -17409"/>
                  <a:gd name="adj4" fmla="val -39182"/>
                  <a:gd name="adj5" fmla="val 18810"/>
                  <a:gd name="adj6" fmla="val -62569"/>
                </a:avLst>
              </a:prstGeom>
              <a:blipFill>
                <a:blip r:embed="rId6"/>
                <a:stretch>
                  <a:fillRect b="-7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A866021-B08D-7BD8-5444-C577099AB888}"/>
              </a:ext>
            </a:extLst>
          </p:cNvPr>
          <p:cNvSpPr txBox="1"/>
          <p:nvPr/>
        </p:nvSpPr>
        <p:spPr>
          <a:xfrm>
            <a:off x="664605" y="2767022"/>
            <a:ext cx="9269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Bloch basis constructed from local basis functions.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A2817D-BD77-53F9-50C1-63C0477B1943}"/>
              </a:ext>
            </a:extLst>
          </p:cNvPr>
          <p:cNvSpPr txBox="1"/>
          <p:nvPr/>
        </p:nvSpPr>
        <p:spPr>
          <a:xfrm>
            <a:off x="664605" y="4317582"/>
            <a:ext cx="112083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k-dependent Hamiltonian is obtained by Fourier transforming the real-space matrix elements</a:t>
            </a:r>
          </a:p>
        </p:txBody>
      </p:sp>
    </p:spTree>
    <p:extLst>
      <p:ext uri="{BB962C8B-B14F-4D97-AF65-F5344CB8AC3E}">
        <p14:creationId xmlns:p14="http://schemas.microsoft.com/office/powerpoint/2010/main" val="1214870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9B75AFF-4425-4D63-3AF7-ACBDB43C93DC}"/>
                  </a:ext>
                </a:extLst>
              </p:cNvPr>
              <p:cNvSpPr txBox="1"/>
              <p:nvPr/>
            </p:nvSpPr>
            <p:spPr>
              <a:xfrm>
                <a:off x="592839" y="2959671"/>
                <a:ext cx="5973331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H–(----C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≡ 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C–C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≡ 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C–C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≡ 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C----)–H   → N cells</a:t>
                </a:r>
              </a:p>
              <a:p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H–(--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≡ 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C–C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≡ 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C–C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≡ 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---)–H       → N-2 cells</a:t>
                </a:r>
              </a:p>
              <a:p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en-US" sz="2400" i="0" smtClean="0">
                          <a:latin typeface="Cambria Math" panose="02040503050406030204" pitchFamily="18" charset="0"/>
                        </a:rPr>
                        <m:t>N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𝑐𝑒𝑙𝑙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𝑒𝑛𝑑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smtClean="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sz="2400" i="0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240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40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400" i="0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𝑐𝑒𝑙𝑙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𝑒𝑛𝑑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9B75AFF-4425-4D63-3AF7-ACBDB43C9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39" y="2959671"/>
                <a:ext cx="5973331" cy="1938992"/>
              </a:xfrm>
              <a:prstGeom prst="rect">
                <a:avLst/>
              </a:prstGeom>
              <a:blipFill>
                <a:blip r:embed="rId2"/>
                <a:stretch>
                  <a:fillRect l="-1274" t="-1961"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Alternate Process 9">
                <a:extLst>
                  <a:ext uri="{FF2B5EF4-FFF2-40B4-BE49-F238E27FC236}">
                    <a16:creationId xmlns:a16="http://schemas.microsoft.com/office/drawing/2014/main" id="{2802B16C-BAA2-1660-9B3F-32E658568977}"/>
                  </a:ext>
                </a:extLst>
              </p:cNvPr>
              <p:cNvSpPr/>
              <p:nvPr/>
            </p:nvSpPr>
            <p:spPr>
              <a:xfrm>
                <a:off x="1154481" y="5391087"/>
                <a:ext cx="3920560" cy="867137"/>
              </a:xfrm>
              <a:prstGeom prst="flowChartAlternateProcess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𝒄𝒆𝒍𝒍</m:t>
                          </m:r>
                        </m:sub>
                      </m:sSub>
                      <m:r>
                        <a:rPr lang="en-US" sz="2400" b="1" i="1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𝐍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𝐍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)/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Alternate Process 9">
                <a:extLst>
                  <a:ext uri="{FF2B5EF4-FFF2-40B4-BE49-F238E27FC236}">
                    <a16:creationId xmlns:a16="http://schemas.microsoft.com/office/drawing/2014/main" id="{2802B16C-BAA2-1660-9B3F-32E6585689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481" y="5391087"/>
                <a:ext cx="3920560" cy="867137"/>
              </a:xfrm>
              <a:prstGeom prst="flowChartAlternateProcess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le 1">
                <a:extLst>
                  <a:ext uri="{FF2B5EF4-FFF2-40B4-BE49-F238E27FC236}">
                    <a16:creationId xmlns:a16="http://schemas.microsoft.com/office/drawing/2014/main" id="{C0E743A4-E270-5F32-4291-0F9E692938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4454" y="261952"/>
                <a:ext cx="10515600" cy="874122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US" sz="3600" b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Carbon Chains (-C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3600" b="1" i="1" u="sng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≡</m:t>
                    </m:r>
                  </m:oMath>
                </a14:m>
                <a:r>
                  <a:rPr lang="en-US" sz="3600" b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C-)</a:t>
                </a:r>
              </a:p>
            </p:txBody>
          </p:sp>
        </mc:Choice>
        <mc:Fallback xmlns="">
          <p:sp>
            <p:nvSpPr>
              <p:cNvPr id="11" name="Title 1">
                <a:extLst>
                  <a:ext uri="{FF2B5EF4-FFF2-40B4-BE49-F238E27FC236}">
                    <a16:creationId xmlns:a16="http://schemas.microsoft.com/office/drawing/2014/main" id="{C0E743A4-E270-5F32-4291-0F9E69293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454" y="261952"/>
                <a:ext cx="10515600" cy="874122"/>
              </a:xfrm>
              <a:prstGeom prst="rect">
                <a:avLst/>
              </a:prstGeom>
              <a:blipFill>
                <a:blip r:embed="rId7"/>
                <a:stretch>
                  <a:fillRect t="-1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8053BC62-9A66-4E10-D514-7D28212B8729}"/>
              </a:ext>
            </a:extLst>
          </p:cNvPr>
          <p:cNvGrpSpPr/>
          <p:nvPr/>
        </p:nvGrpSpPr>
        <p:grpSpPr>
          <a:xfrm>
            <a:off x="6409002" y="1650928"/>
            <a:ext cx="5445299" cy="4477497"/>
            <a:chOff x="6409002" y="2049762"/>
            <a:chExt cx="5445299" cy="447749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BF3D163-F1DF-354C-777D-89E7F5F0317F}"/>
                </a:ext>
              </a:extLst>
            </p:cNvPr>
            <p:cNvGrpSpPr/>
            <p:nvPr/>
          </p:nvGrpSpPr>
          <p:grpSpPr>
            <a:xfrm>
              <a:off x="6409002" y="2049762"/>
              <a:ext cx="5445299" cy="4477497"/>
              <a:chOff x="2709828" y="359253"/>
              <a:chExt cx="6429881" cy="5313907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245DDDC0-028C-9470-7F80-EA13F8853C2F}"/>
                  </a:ext>
                </a:extLst>
              </p:cNvPr>
              <p:cNvGrpSpPr/>
              <p:nvPr/>
            </p:nvGrpSpPr>
            <p:grpSpPr>
              <a:xfrm>
                <a:off x="2709828" y="359253"/>
                <a:ext cx="6429881" cy="5313907"/>
                <a:chOff x="2164738" y="710034"/>
                <a:chExt cx="5172041" cy="4536878"/>
              </a:xfrm>
            </p:grpSpPr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1A0D7B3D-52E8-DD57-9664-5FCBE58868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rcRect/>
                <a:stretch/>
              </p:blipFill>
              <p:spPr>
                <a:xfrm>
                  <a:off x="2164738" y="710034"/>
                  <a:ext cx="5172041" cy="4536878"/>
                </a:xfrm>
                <a:prstGeom prst="rect">
                  <a:avLst/>
                </a:prstGeom>
              </p:spPr>
            </p:pic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D8EF1186-59AB-EA95-D977-C34B238B84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rcRect l="18709" t="22093" r="17622" b="15969"/>
                <a:stretch/>
              </p:blipFill>
              <p:spPr>
                <a:xfrm>
                  <a:off x="5728216" y="2944724"/>
                  <a:ext cx="1183210" cy="1063608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" name="TextBox 4">
                      <a:extLst>
                        <a:ext uri="{FF2B5EF4-FFF2-40B4-BE49-F238E27FC236}">
                          <a16:creationId xmlns:a16="http://schemas.microsoft.com/office/drawing/2014/main" id="{A10670DC-9AB9-8563-7179-AC8F9EAC112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269805" y="3862341"/>
                      <a:ext cx="749500" cy="27699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200" b="1" i="0" smtClean="0">
                                <a:latin typeface="Cambria Math" panose="02040503050406030204" pitchFamily="18" charset="0"/>
                              </a:rPr>
                              <m:t>𝛉</m:t>
                            </m:r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𝟔𝟎</m:t>
                            </m:r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°</m:t>
                            </m:r>
                          </m:oMath>
                        </m:oMathPara>
                      </a14:m>
                      <a:endParaRPr lang="en-US" sz="1200" b="1" dirty="0"/>
                    </a:p>
                  </p:txBody>
                </p:sp>
              </mc:Choice>
              <mc:Fallback xmlns="">
                <p:sp>
                  <p:nvSpPr>
                    <p:cNvPr id="5" name="TextBox 4">
                      <a:extLst>
                        <a:ext uri="{FF2B5EF4-FFF2-40B4-BE49-F238E27FC236}">
                          <a16:creationId xmlns:a16="http://schemas.microsoft.com/office/drawing/2014/main" id="{A10670DC-9AB9-8563-7179-AC8F9EAC112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69805" y="3862341"/>
                      <a:ext cx="749500" cy="276998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405E8A-0C9C-8276-BF40-D0E3A9DA1D08}"/>
                  </a:ext>
                </a:extLst>
              </p:cNvPr>
              <p:cNvSpPr txBox="1"/>
              <p:nvPr/>
            </p:nvSpPr>
            <p:spPr>
              <a:xfrm>
                <a:off x="5297371" y="1917096"/>
                <a:ext cx="1871040" cy="69401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Infinite Cluster Limit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FBED8B-9FEC-94A5-E0A0-85969436A740}"/>
                  </a:ext>
                </a:extLst>
              </p:cNvPr>
              <p:cNvSpPr txBox="1"/>
              <p:nvPr/>
            </p:nvSpPr>
            <p:spPr>
              <a:xfrm>
                <a:off x="5303126" y="1525805"/>
                <a:ext cx="1972107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WPBC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A9DCF37-0870-100A-D2E6-0D4C3B27D7A4}"/>
                </a:ext>
              </a:extLst>
            </p:cNvPr>
            <p:cNvSpPr txBox="1"/>
            <p:nvPr/>
          </p:nvSpPr>
          <p:spPr>
            <a:xfrm>
              <a:off x="8621730" y="3003632"/>
              <a:ext cx="832985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W-first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03FE778-8735-565C-8129-6CD88F5A2FA3}"/>
              </a:ext>
            </a:extLst>
          </p:cNvPr>
          <p:cNvGrpSpPr/>
          <p:nvPr/>
        </p:nvGrpSpPr>
        <p:grpSpPr>
          <a:xfrm>
            <a:off x="1154481" y="1281595"/>
            <a:ext cx="4054166" cy="1285759"/>
            <a:chOff x="7030739" y="505097"/>
            <a:chExt cx="4054166" cy="128575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9882CB6-B622-9E07-3A78-789CAEF5C22E}"/>
                </a:ext>
              </a:extLst>
            </p:cNvPr>
            <p:cNvGrpSpPr/>
            <p:nvPr/>
          </p:nvGrpSpPr>
          <p:grpSpPr>
            <a:xfrm>
              <a:off x="7030739" y="1148874"/>
              <a:ext cx="4054166" cy="641982"/>
              <a:chOff x="1752100" y="2384128"/>
              <a:chExt cx="4054166" cy="641982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2175533-A440-0BDB-63F3-C987F26EF177}"/>
                  </a:ext>
                </a:extLst>
              </p:cNvPr>
              <p:cNvSpPr/>
              <p:nvPr/>
            </p:nvSpPr>
            <p:spPr>
              <a:xfrm>
                <a:off x="4130379" y="2385994"/>
                <a:ext cx="731520" cy="638175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37545DB-1C22-90B5-8F78-D18B020D8724}"/>
                  </a:ext>
                </a:extLst>
              </p:cNvPr>
              <p:cNvSpPr/>
              <p:nvPr/>
            </p:nvSpPr>
            <p:spPr>
              <a:xfrm>
                <a:off x="3384848" y="2384128"/>
                <a:ext cx="731520" cy="63817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EB28F2C-E699-6A58-4336-761FDC6F81B2}"/>
                  </a:ext>
                </a:extLst>
              </p:cNvPr>
              <p:cNvSpPr/>
              <p:nvPr/>
            </p:nvSpPr>
            <p:spPr>
              <a:xfrm>
                <a:off x="2648333" y="2386030"/>
                <a:ext cx="731520" cy="640080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A10ED13-ACBC-50DE-E776-813EAF7019AC}"/>
                  </a:ext>
                </a:extLst>
              </p:cNvPr>
              <p:cNvSpPr/>
              <p:nvPr/>
            </p:nvSpPr>
            <p:spPr>
              <a:xfrm>
                <a:off x="1905627" y="2386030"/>
                <a:ext cx="731520" cy="638175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91C1E1D-BD57-B5B1-E3ED-40614136A6DA}"/>
                  </a:ext>
                </a:extLst>
              </p:cNvPr>
              <p:cNvSpPr/>
              <p:nvPr/>
            </p:nvSpPr>
            <p:spPr>
              <a:xfrm>
                <a:off x="4871798" y="2386031"/>
                <a:ext cx="731520" cy="638175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568487A1-047C-695A-DCCE-D20DDD7FE44F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752100" y="2533938"/>
                    <a:ext cx="405416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≡</m:t>
                          </m:r>
                          <m:r>
                            <a:rPr lang="en-US" sz="16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  <m:r>
                            <a:rPr lang="en-US" sz="1600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≡</m:t>
                          </m:r>
                          <m:r>
                            <a:rPr lang="en-US" sz="16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  <m:r>
                            <a:rPr lang="en-US" sz="1600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≡</m:t>
                          </m:r>
                          <m:r>
                            <a:rPr lang="en-US" sz="16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  <m:r>
                            <a:rPr lang="en-US" sz="1600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≡</m:t>
                          </m:r>
                          <m:r>
                            <a:rPr lang="en-US" sz="16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  <m:r>
                            <a:rPr lang="en-US" sz="1600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≡</m:t>
                          </m:r>
                          <m:r>
                            <a:rPr lang="en-US" sz="16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  <m:r>
                            <a:rPr lang="en-US" sz="1600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US" sz="1600" b="1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568487A1-047C-695A-DCCE-D20DDD7FE4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752100" y="2533938"/>
                    <a:ext cx="4054166" cy="338554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261960E-B3BB-8ED1-8DF0-F7BBE890B491}"/>
                </a:ext>
              </a:extLst>
            </p:cNvPr>
            <p:cNvSpPr txBox="1"/>
            <p:nvPr/>
          </p:nvSpPr>
          <p:spPr>
            <a:xfrm>
              <a:off x="8029505" y="519971"/>
              <a:ext cx="11309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2.30 Bohr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41E2C49-1572-66CE-7D45-2C9F38040255}"/>
                </a:ext>
              </a:extLst>
            </p:cNvPr>
            <p:cNvCxnSpPr>
              <a:cxnSpLocks/>
              <a:stCxn id="15" idx="2"/>
            </p:cNvCxnSpPr>
            <p:nvPr/>
          </p:nvCxnSpPr>
          <p:spPr>
            <a:xfrm>
              <a:off x="8594962" y="889303"/>
              <a:ext cx="445318" cy="57865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4BAA0EF-E00E-5F38-80B4-4BC4D319CD12}"/>
                </a:ext>
              </a:extLst>
            </p:cNvPr>
            <p:cNvSpPr txBox="1"/>
            <p:nvPr/>
          </p:nvSpPr>
          <p:spPr>
            <a:xfrm>
              <a:off x="9192099" y="505097"/>
              <a:ext cx="14194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2.92 Bohr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B6C4D58-C583-1EA0-8894-333F483EFD11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 flipH="1">
              <a:off x="9413922" y="874429"/>
              <a:ext cx="487915" cy="48449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73864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F10D4-70B6-97B6-1549-2E1FE8E6C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9432F-324D-96F5-114C-35A12545B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27" y="201170"/>
            <a:ext cx="11371805" cy="874122"/>
          </a:xfrm>
        </p:spPr>
        <p:txBody>
          <a:bodyPr>
            <a:normAutofit/>
          </a:bodyPr>
          <a:lstStyle/>
          <a:p>
            <a:pPr algn="ctr"/>
            <a:r>
              <a:rPr lang="en-US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W-first vs Gaussian PBC code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B4C1FAD-3970-7737-2D4D-621EAE74FD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42" t="22334"/>
          <a:stretch/>
        </p:blipFill>
        <p:spPr>
          <a:xfrm>
            <a:off x="8057413" y="5400293"/>
            <a:ext cx="3413536" cy="99760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14DBB08-F94E-F3FA-A4E0-D5C52785C35D}"/>
              </a:ext>
            </a:extLst>
          </p:cNvPr>
          <p:cNvSpPr txBox="1"/>
          <p:nvPr/>
        </p:nvSpPr>
        <p:spPr>
          <a:xfrm>
            <a:off x="540327" y="5549019"/>
            <a:ext cx="66372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Energy difference (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W-first and Gaussian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) &lt;10</a:t>
            </a:r>
            <a:r>
              <a:rPr lang="en-US" sz="2200" baseline="30000" dirty="0">
                <a:latin typeface="Arial" panose="020B0604020202020204" pitchFamily="34" charset="0"/>
                <a:cs typeface="Arial" panose="020B0604020202020204" pitchFamily="34" charset="0"/>
              </a:rPr>
              <a:t>-5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Ha</a:t>
            </a:r>
            <a:endParaRPr lang="en-US" sz="22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3D2755-9B92-A416-D90C-2DB6206292E2}"/>
              </a:ext>
            </a:extLst>
          </p:cNvPr>
          <p:cNvSpPr txBox="1"/>
          <p:nvPr/>
        </p:nvSpPr>
        <p:spPr>
          <a:xfrm>
            <a:off x="8697612" y="6021092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60 degree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D3154C-390C-F441-80FE-2C59316BECDE}"/>
              </a:ext>
            </a:extLst>
          </p:cNvPr>
          <p:cNvGrpSpPr>
            <a:grpSpLocks noChangeAspect="1"/>
          </p:cNvGrpSpPr>
          <p:nvPr/>
        </p:nvGrpSpPr>
        <p:grpSpPr>
          <a:xfrm>
            <a:off x="7089712" y="1749783"/>
            <a:ext cx="4822420" cy="3657600"/>
            <a:chOff x="1432523" y="1508126"/>
            <a:chExt cx="6992509" cy="530352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153FC37-510C-A2F7-C561-1AA217001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598"/>
            <a:stretch>
              <a:fillRect/>
            </a:stretch>
          </p:blipFill>
          <p:spPr>
            <a:xfrm>
              <a:off x="4883297" y="1508126"/>
              <a:ext cx="3541735" cy="530352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4AD3155-07E8-19D1-EEBE-E5B77E61D1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32523" y="1508126"/>
              <a:ext cx="3450774" cy="5167312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33939C48-767C-76C4-B073-FE543520F336}"/>
              </a:ext>
            </a:extLst>
          </p:cNvPr>
          <p:cNvSpPr txBox="1"/>
          <p:nvPr/>
        </p:nvSpPr>
        <p:spPr>
          <a:xfrm>
            <a:off x="3032356" y="1263482"/>
            <a:ext cx="1362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Linear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9FBE31-060A-13C8-D238-4F33BB5F5A5C}"/>
              </a:ext>
            </a:extLst>
          </p:cNvPr>
          <p:cNvSpPr txBox="1"/>
          <p:nvPr/>
        </p:nvSpPr>
        <p:spPr>
          <a:xfrm>
            <a:off x="8928531" y="1263482"/>
            <a:ext cx="13019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Chiral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DE273A-E7E3-4579-C8AD-876A3F6057E7}"/>
              </a:ext>
            </a:extLst>
          </p:cNvPr>
          <p:cNvSpPr txBox="1"/>
          <p:nvPr/>
        </p:nvSpPr>
        <p:spPr>
          <a:xfrm>
            <a:off x="8001722" y="1987017"/>
            <a:ext cx="893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W-first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809FAA5-47B3-1EBC-8CA3-888D0EE466A6}"/>
              </a:ext>
            </a:extLst>
          </p:cNvPr>
          <p:cNvGrpSpPr/>
          <p:nvPr/>
        </p:nvGrpSpPr>
        <p:grpSpPr>
          <a:xfrm>
            <a:off x="206833" y="1732877"/>
            <a:ext cx="6805736" cy="3657600"/>
            <a:chOff x="206833" y="1732877"/>
            <a:chExt cx="6805736" cy="3657600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6B0C20AF-59A8-B9A8-F54C-68D2F7D80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6833" y="1741752"/>
              <a:ext cx="2401551" cy="3571694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D621EF20-A6AB-56CC-1055-65ED557CB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627710" y="1742693"/>
              <a:ext cx="1904402" cy="3570753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468821DB-05E1-B653-01A0-C9BD2EE3A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551439" y="1732877"/>
              <a:ext cx="2461130" cy="3657600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29A0B122-547A-19DD-62B1-26F8EB104705}"/>
              </a:ext>
            </a:extLst>
          </p:cNvPr>
          <p:cNvSpPr txBox="1"/>
          <p:nvPr/>
        </p:nvSpPr>
        <p:spPr>
          <a:xfrm>
            <a:off x="854441" y="3307222"/>
            <a:ext cx="893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W-first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6B0979-DF02-CCFB-3E91-6854C2FB6C8D}"/>
              </a:ext>
            </a:extLst>
          </p:cNvPr>
          <p:cNvSpPr txBox="1"/>
          <p:nvPr/>
        </p:nvSpPr>
        <p:spPr>
          <a:xfrm>
            <a:off x="2773474" y="3273144"/>
            <a:ext cx="1777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Gaussian</a:t>
            </a:r>
            <a:br>
              <a:rPr lang="en-US" b="1" dirty="0"/>
            </a:br>
            <a:r>
              <a:rPr lang="en-US" b="1" dirty="0"/>
              <a:t>Code PBC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082296-E278-DAB2-2786-F6D55A7BF76E}"/>
              </a:ext>
            </a:extLst>
          </p:cNvPr>
          <p:cNvSpPr txBox="1"/>
          <p:nvPr/>
        </p:nvSpPr>
        <p:spPr>
          <a:xfrm>
            <a:off x="11031574" y="1880797"/>
            <a:ext cx="70211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W-first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1CABF4-959E-09AC-5F29-399B1C1FB8B2}"/>
              </a:ext>
            </a:extLst>
          </p:cNvPr>
          <p:cNvSpPr txBox="1"/>
          <p:nvPr/>
        </p:nvSpPr>
        <p:spPr>
          <a:xfrm>
            <a:off x="6156580" y="3072249"/>
            <a:ext cx="70211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W-first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ED95CF74-9095-4D6B-AFA2-46A397D75F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05129" y="6068230"/>
                <a:ext cx="5217328" cy="52523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US" sz="2400" b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Carbon Chains (-C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2400" b="1" i="1" u="sng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≡</m:t>
                    </m:r>
                  </m:oMath>
                </a14:m>
                <a:r>
                  <a:rPr lang="en-US" sz="2400" b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C-)</a:t>
                </a: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ED95CF74-9095-4D6B-AFA2-46A397D75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29" y="6068230"/>
                <a:ext cx="5217328" cy="525238"/>
              </a:xfrm>
              <a:prstGeom prst="rect">
                <a:avLst/>
              </a:prstGeom>
              <a:blipFill>
                <a:blip r:embed="rId9"/>
                <a:stretch>
                  <a:fillRect t="-16279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1344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1C1D5EF-0689-0865-FD22-3FFAD2B67C2D}"/>
              </a:ext>
            </a:extLst>
          </p:cNvPr>
          <p:cNvGrpSpPr/>
          <p:nvPr/>
        </p:nvGrpSpPr>
        <p:grpSpPr>
          <a:xfrm>
            <a:off x="441571" y="1690687"/>
            <a:ext cx="6801699" cy="3768003"/>
            <a:chOff x="318844" y="1534332"/>
            <a:chExt cx="8686917" cy="469087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F9B2E21-F38B-507D-62B1-8CC689468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8844" y="1534332"/>
              <a:ext cx="3039880" cy="462624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90576E2-7F3C-AE34-00D8-5F03D7D5A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1732"/>
            <a:stretch>
              <a:fillRect/>
            </a:stretch>
          </p:blipFill>
          <p:spPr>
            <a:xfrm>
              <a:off x="3466080" y="1534332"/>
              <a:ext cx="2401728" cy="462624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F18D4B3-3A49-C23E-CE7A-2030D0B52E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8993"/>
            <a:stretch>
              <a:fillRect/>
            </a:stretch>
          </p:blipFill>
          <p:spPr>
            <a:xfrm>
              <a:off x="5867807" y="1534332"/>
              <a:ext cx="3137954" cy="4690872"/>
            </a:xfrm>
            <a:prstGeom prst="rect">
              <a:avLst/>
            </a:prstGeom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4CCBB314-2060-13B0-45CC-AF93B4E4B2DF}"/>
              </a:ext>
            </a:extLst>
          </p:cNvPr>
          <p:cNvSpPr txBox="1">
            <a:spLocks/>
          </p:cNvSpPr>
          <p:nvPr/>
        </p:nvSpPr>
        <p:spPr>
          <a:xfrm>
            <a:off x="441571" y="365125"/>
            <a:ext cx="11423102" cy="84318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Lithium-Fluorine Chains (-Li-F-,)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8C4CD6-8FA9-B815-8131-B091D58008F9}"/>
              </a:ext>
            </a:extLst>
          </p:cNvPr>
          <p:cNvSpPr txBox="1"/>
          <p:nvPr/>
        </p:nvSpPr>
        <p:spPr>
          <a:xfrm>
            <a:off x="1053081" y="5684762"/>
            <a:ext cx="60596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Energy difference (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W-first-Gaussian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) ~10</a:t>
            </a:r>
            <a:r>
              <a:rPr lang="en-US" sz="2200" baseline="30000" dirty="0">
                <a:latin typeface="Arial" panose="020B0604020202020204" pitchFamily="34" charset="0"/>
                <a:cs typeface="Arial" panose="020B0604020202020204" pitchFamily="34" charset="0"/>
              </a:rPr>
              <a:t>-5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Ha</a:t>
            </a:r>
            <a:endParaRPr lang="en-US" sz="22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EF11D9-9C96-7D2F-ED4D-3E4260435C20}"/>
              </a:ext>
            </a:extLst>
          </p:cNvPr>
          <p:cNvSpPr txBox="1"/>
          <p:nvPr/>
        </p:nvSpPr>
        <p:spPr>
          <a:xfrm>
            <a:off x="6406445" y="1821410"/>
            <a:ext cx="63190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W-first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B4E93B-9AF2-C350-F91E-4328E4795D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8578" y="1772580"/>
            <a:ext cx="2456961" cy="36885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9356DA-2569-589B-B25E-B3F51212FF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8334" y="5521599"/>
            <a:ext cx="3470754" cy="9712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50E7021-B190-DC05-7F83-72DF854D581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1418"/>
          <a:stretch>
            <a:fillRect/>
          </a:stretch>
        </p:blipFill>
        <p:spPr>
          <a:xfrm>
            <a:off x="9895539" y="1806581"/>
            <a:ext cx="1969134" cy="369010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19D2935-B17B-2DB8-C166-751DFF9DC0CA}"/>
              </a:ext>
            </a:extLst>
          </p:cNvPr>
          <p:cNvSpPr txBox="1"/>
          <p:nvPr/>
        </p:nvSpPr>
        <p:spPr>
          <a:xfrm>
            <a:off x="3032356" y="1263482"/>
            <a:ext cx="1362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Linear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A69D5E-DC61-7CC9-7DAB-52BA0B0A32B6}"/>
              </a:ext>
            </a:extLst>
          </p:cNvPr>
          <p:cNvSpPr txBox="1"/>
          <p:nvPr/>
        </p:nvSpPr>
        <p:spPr>
          <a:xfrm>
            <a:off x="8928531" y="1263482"/>
            <a:ext cx="13019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Chiral </a:t>
            </a:r>
          </a:p>
        </p:txBody>
      </p:sp>
    </p:spTree>
    <p:extLst>
      <p:ext uri="{BB962C8B-B14F-4D97-AF65-F5344CB8AC3E}">
        <p14:creationId xmlns:p14="http://schemas.microsoft.com/office/powerpoint/2010/main" val="4271875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9E10E-2B12-90B0-1ED3-DE655CDBA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343" y="154753"/>
            <a:ext cx="10384971" cy="830998"/>
          </a:xfrm>
        </p:spPr>
        <p:txBody>
          <a:bodyPr>
            <a:noAutofit/>
          </a:bodyPr>
          <a:lstStyle/>
          <a:p>
            <a:pPr algn="ctr"/>
            <a:r>
              <a:rPr lang="en-US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Graphene and derivatives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751F68-4EC6-0330-35E9-95ADEF8A2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194" y="1279103"/>
            <a:ext cx="4843761" cy="4546825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E95F966-C2C8-D81B-7D56-18D9C9647BF1}"/>
              </a:ext>
            </a:extLst>
          </p:cNvPr>
          <p:cNvGrpSpPr/>
          <p:nvPr/>
        </p:nvGrpSpPr>
        <p:grpSpPr>
          <a:xfrm>
            <a:off x="6302828" y="2161715"/>
            <a:ext cx="4843760" cy="2534570"/>
            <a:chOff x="5756190" y="872680"/>
            <a:chExt cx="6229550" cy="211481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4856E07-F6AE-59B9-66E2-A7DCD2DA5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8742" t="23222" b="20853"/>
            <a:stretch>
              <a:fillRect/>
            </a:stretch>
          </p:blipFill>
          <p:spPr>
            <a:xfrm>
              <a:off x="6096000" y="872680"/>
              <a:ext cx="5889740" cy="211481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E41781C-336F-916D-7B99-B63A6CE9E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245" t="67133" r="80682"/>
            <a:stretch>
              <a:fillRect/>
            </a:stretch>
          </p:blipFill>
          <p:spPr>
            <a:xfrm>
              <a:off x="5756190" y="2038262"/>
              <a:ext cx="679620" cy="726204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3428428-B1BD-3F0E-1D08-F5B07F777E17}"/>
              </a:ext>
            </a:extLst>
          </p:cNvPr>
          <p:cNvSpPr txBox="1"/>
          <p:nvPr/>
        </p:nvSpPr>
        <p:spPr>
          <a:xfrm>
            <a:off x="2841172" y="5934614"/>
            <a:ext cx="1238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W-First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70EE72-0743-C720-9ED5-F427C31D1863}"/>
              </a:ext>
            </a:extLst>
          </p:cNvPr>
          <p:cNvSpPr txBox="1"/>
          <p:nvPr/>
        </p:nvSpPr>
        <p:spPr>
          <a:xfrm>
            <a:off x="2841172" y="3367849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Dirac Cone</a:t>
            </a:r>
          </a:p>
        </p:txBody>
      </p:sp>
    </p:spTree>
    <p:extLst>
      <p:ext uri="{BB962C8B-B14F-4D97-AF65-F5344CB8AC3E}">
        <p14:creationId xmlns:p14="http://schemas.microsoft.com/office/powerpoint/2010/main" val="2136892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9D04C88-DFCF-375C-BFA5-744512B4D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944" y="138609"/>
            <a:ext cx="4551875" cy="36991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02DE55-B63F-BA5D-F241-58F5E4165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94828">
            <a:off x="832153" y="3214828"/>
            <a:ext cx="4108140" cy="35403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F4270B-DE5C-E6C5-3718-A21C6619CC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285" y="257184"/>
            <a:ext cx="4551876" cy="35403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A9701D-1CF5-C078-91CB-BAE38A2ECF6C}"/>
              </a:ext>
            </a:extLst>
          </p:cNvPr>
          <p:cNvSpPr txBox="1"/>
          <p:nvPr/>
        </p:nvSpPr>
        <p:spPr>
          <a:xfrm>
            <a:off x="4497740" y="1757518"/>
            <a:ext cx="28476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Screw operation along z-axis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1B3132-7A7D-4C30-F03E-9D4E801346F3}"/>
                  </a:ext>
                </a:extLst>
              </p:cNvPr>
              <p:cNvSpPr txBox="1"/>
              <p:nvPr/>
            </p:nvSpPr>
            <p:spPr>
              <a:xfrm>
                <a:off x="366711" y="960924"/>
                <a:ext cx="118494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𝟓</m:t>
                    </m:r>
                    <m:r>
                      <a:rPr lang="en-US" sz="2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°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twist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1B3132-7A7D-4C30-F03E-9D4E80134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11" y="960924"/>
                <a:ext cx="1184940" cy="461665"/>
              </a:xfrm>
              <a:prstGeom prst="rect">
                <a:avLst/>
              </a:prstGeom>
              <a:blipFill>
                <a:blip r:embed="rId5"/>
                <a:stretch>
                  <a:fillRect l="-1053" t="-8108" r="-6316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06E00D2-8B2A-EFF0-E912-73907041533A}"/>
                  </a:ext>
                </a:extLst>
              </p:cNvPr>
              <p:cNvSpPr txBox="1"/>
              <p:nvPr/>
            </p:nvSpPr>
            <p:spPr>
              <a:xfrm>
                <a:off x="8297635" y="3566699"/>
                <a:ext cx="13692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𝟏𝟎</m:t>
                    </m:r>
                    <m:r>
                      <a:rPr lang="en-US" sz="2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°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twist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06E00D2-8B2A-EFF0-E912-739070415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7635" y="3566699"/>
                <a:ext cx="1369286" cy="461665"/>
              </a:xfrm>
              <a:prstGeom prst="rect">
                <a:avLst/>
              </a:prstGeom>
              <a:blipFill>
                <a:blip r:embed="rId6"/>
                <a:stretch>
                  <a:fillRect l="-917" t="-10526" r="-5505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DF2A03-BE90-35A2-81C6-773D392AF8AB}"/>
                  </a:ext>
                </a:extLst>
              </p:cNvPr>
              <p:cNvSpPr txBox="1"/>
              <p:nvPr/>
            </p:nvSpPr>
            <p:spPr>
              <a:xfrm>
                <a:off x="313521" y="4144015"/>
                <a:ext cx="13692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  <m:r>
                      <a:rPr lang="en-US" sz="2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𝟓</m:t>
                    </m:r>
                    <m:r>
                      <a:rPr lang="en-US" sz="2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°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twist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DF2A03-BE90-35A2-81C6-773D392AF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521" y="4144015"/>
                <a:ext cx="1369286" cy="461665"/>
              </a:xfrm>
              <a:prstGeom prst="rect">
                <a:avLst/>
              </a:prstGeom>
              <a:blipFill>
                <a:blip r:embed="rId7"/>
                <a:stretch>
                  <a:fillRect l="-917" t="-10811" r="-6422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C1F6B7FF-49A3-A933-DB73-55E69CE29CE1}"/>
              </a:ext>
            </a:extLst>
          </p:cNvPr>
          <p:cNvSpPr txBox="1"/>
          <p:nvPr/>
        </p:nvSpPr>
        <p:spPr>
          <a:xfrm>
            <a:off x="6806903" y="4985002"/>
            <a:ext cx="3476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Moire’s pattern</a:t>
            </a:r>
          </a:p>
        </p:txBody>
      </p:sp>
    </p:spTree>
    <p:extLst>
      <p:ext uri="{BB962C8B-B14F-4D97-AF65-F5344CB8AC3E}">
        <p14:creationId xmlns:p14="http://schemas.microsoft.com/office/powerpoint/2010/main" val="376341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2BECED65-B6CE-04E0-BE7D-480D8D085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D08E1-D461-5993-7F6E-EDBC9EB1C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168" y="232146"/>
            <a:ext cx="11171663" cy="1057812"/>
          </a:xfrm>
        </p:spPr>
        <p:txBody>
          <a:bodyPr>
            <a:normAutofit/>
          </a:bodyPr>
          <a:lstStyle/>
          <a:p>
            <a:pPr algn="ctr"/>
            <a:r>
              <a:rPr lang="en-US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Carbon nanotubes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D62AC0-6640-9881-D158-01AC66EF7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024" y="3595748"/>
            <a:ext cx="3683515" cy="27679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994B17-38F2-D5C2-AC17-F12997DA34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6994" y="3775362"/>
            <a:ext cx="2415901" cy="29791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B55ABD-91D3-3505-34BC-063AD0E916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690688"/>
            <a:ext cx="3865887" cy="21262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AD058D-132A-8C71-8AB2-B99696DB928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5753" t="5081" r="17932" b="11115"/>
          <a:stretch>
            <a:fillRect/>
          </a:stretch>
        </p:blipFill>
        <p:spPr>
          <a:xfrm>
            <a:off x="5098033" y="1899441"/>
            <a:ext cx="1730700" cy="19174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A9DF09-05C8-D308-739D-8DEA76C125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2506" y="1557708"/>
            <a:ext cx="3721294" cy="4589105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3A1718A-42F7-83B9-7E71-10641F8CC070}"/>
              </a:ext>
            </a:extLst>
          </p:cNvPr>
          <p:cNvSpPr/>
          <p:nvPr/>
        </p:nvSpPr>
        <p:spPr>
          <a:xfrm>
            <a:off x="2165311" y="1887765"/>
            <a:ext cx="678366" cy="1895708"/>
          </a:xfrm>
          <a:prstGeom prst="roundRect">
            <a:avLst/>
          </a:prstGeom>
          <a:solidFill>
            <a:schemeClr val="accent6">
              <a:lumMod val="40000"/>
              <a:lumOff val="60000"/>
              <a:alpha val="28947"/>
            </a:schemeClr>
          </a:solidFill>
          <a:ln w="3492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29C1195-832E-4938-BE82-193D2447F55F}"/>
              </a:ext>
            </a:extLst>
          </p:cNvPr>
          <p:cNvSpPr/>
          <p:nvPr/>
        </p:nvSpPr>
        <p:spPr>
          <a:xfrm>
            <a:off x="3411714" y="1921218"/>
            <a:ext cx="1358288" cy="1895708"/>
          </a:xfrm>
          <a:prstGeom prst="roundRect">
            <a:avLst/>
          </a:prstGeom>
          <a:solidFill>
            <a:srgbClr val="FF0000">
              <a:alpha val="28947"/>
            </a:srgbClr>
          </a:solidFill>
          <a:ln w="3492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851DC0-3007-E53A-B71E-83357E828F26}"/>
              </a:ext>
            </a:extLst>
          </p:cNvPr>
          <p:cNvSpPr txBox="1"/>
          <p:nvPr/>
        </p:nvSpPr>
        <p:spPr>
          <a:xfrm>
            <a:off x="643024" y="1582882"/>
            <a:ext cx="1451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CNT(5,0)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8B87A5-6CDD-ABEC-E43E-ADCE12A1DE1C}"/>
              </a:ext>
            </a:extLst>
          </p:cNvPr>
          <p:cNvSpPr txBox="1"/>
          <p:nvPr/>
        </p:nvSpPr>
        <p:spPr>
          <a:xfrm>
            <a:off x="1634405" y="6100176"/>
            <a:ext cx="1451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CNT(6,5)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FBC088-1DBA-FC6E-8AF7-8E0783DF9627}"/>
              </a:ext>
            </a:extLst>
          </p:cNvPr>
          <p:cNvSpPr txBox="1"/>
          <p:nvPr/>
        </p:nvSpPr>
        <p:spPr>
          <a:xfrm>
            <a:off x="9902762" y="1750355"/>
            <a:ext cx="1451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CNT(5,0)</a:t>
            </a:r>
          </a:p>
        </p:txBody>
      </p:sp>
    </p:spTree>
    <p:extLst>
      <p:ext uri="{BB962C8B-B14F-4D97-AF65-F5344CB8AC3E}">
        <p14:creationId xmlns:p14="http://schemas.microsoft.com/office/powerpoint/2010/main" val="21104515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45251-77E0-3BF4-EFBB-7D7BF6DE9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963"/>
            <a:ext cx="10515600" cy="722270"/>
          </a:xfrm>
        </p:spPr>
        <p:txBody>
          <a:bodyPr>
            <a:normAutofit/>
          </a:bodyPr>
          <a:lstStyle/>
          <a:p>
            <a:pPr algn="ctr"/>
            <a:r>
              <a:rPr lang="en-US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CC820C-8FD4-EB19-AC3A-243F6C490866}"/>
              </a:ext>
            </a:extLst>
          </p:cNvPr>
          <p:cNvSpPr txBox="1"/>
          <p:nvPr/>
        </p:nvSpPr>
        <p:spPr>
          <a:xfrm>
            <a:off x="678873" y="1059969"/>
            <a:ext cx="10515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🔷 What This Enables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Fully real-space periodic DFT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Handles chiral (translation + rotation) symmetry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Avoids supercells for chiral systems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Compatible with Perdew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Zunger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-Self Interaction Correction (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PZ-SIC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E6CFB1-9F02-F581-203A-3C400E039796}"/>
              </a:ext>
            </a:extLst>
          </p:cNvPr>
          <p:cNvSpPr txBox="1"/>
          <p:nvPr/>
        </p:nvSpPr>
        <p:spPr>
          <a:xfrm>
            <a:off x="678872" y="3808361"/>
            <a:ext cx="109522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🔷 Future Directions</a:t>
            </a:r>
          </a:p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Generalize the chiral methodology. </a:t>
            </a: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(Nanotube with 2 atom cells only)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Incorporate in FLOSIC (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www.flosic.org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Applications: polymers, chiral magnetic materials, biomolecular helices, etc.</a:t>
            </a:r>
          </a:p>
        </p:txBody>
      </p:sp>
    </p:spTree>
    <p:extLst>
      <p:ext uri="{BB962C8B-B14F-4D97-AF65-F5344CB8AC3E}">
        <p14:creationId xmlns:p14="http://schemas.microsoft.com/office/powerpoint/2010/main" val="4260276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0326A-EE5B-38F5-774E-1AF1DFB7BB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5254" y="295014"/>
            <a:ext cx="8641492" cy="769441"/>
          </a:xfrm>
        </p:spPr>
        <p:txBody>
          <a:bodyPr>
            <a:normAutofit/>
          </a:bodyPr>
          <a:lstStyle/>
          <a:p>
            <a:r>
              <a:rPr lang="en-US" sz="4600" b="1" u="sng" dirty="0">
                <a:latin typeface="Arial" panose="020B0604020202020204" pitchFamily="34" charset="0"/>
                <a:cs typeface="Arial" panose="020B0604020202020204" pitchFamily="34" charset="0"/>
              </a:rPr>
              <a:t>Acknowledgements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7E2650-BB2C-6686-5C89-DF082FC3BB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479" y="1875418"/>
            <a:ext cx="5663521" cy="1655762"/>
          </a:xfrm>
        </p:spPr>
        <p:txBody>
          <a:bodyPr>
            <a:noAutofit/>
          </a:bodyPr>
          <a:lstStyle/>
          <a:p>
            <a:pPr algn="l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This work was supported by the U.S. Department of Energy, Office of Science, Office of Basic Energy Sciences, as a part of the Computational Chemical Sciences Program under Award No. DE-SC0018331.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F1F71A-B21E-2E24-5CC1-9B818C7B125D}"/>
              </a:ext>
            </a:extLst>
          </p:cNvPr>
          <p:cNvSpPr txBox="1"/>
          <p:nvPr/>
        </p:nvSpPr>
        <p:spPr>
          <a:xfrm>
            <a:off x="4432269" y="5491122"/>
            <a:ext cx="30180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B8B71E3-45C6-23C8-913A-9F3D8828514D}"/>
              </a:ext>
            </a:extLst>
          </p:cNvPr>
          <p:cNvSpPr txBox="1">
            <a:spLocks/>
          </p:cNvSpPr>
          <p:nvPr/>
        </p:nvSpPr>
        <p:spPr>
          <a:xfrm>
            <a:off x="6578087" y="1773238"/>
            <a:ext cx="5317524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calculations were carried out at the high-performance computing center (HPCC) of the Institute for Cyber-Enabled Research (ICER) at Michigan State University using resources owned by Central Michigan University.</a:t>
            </a:r>
          </a:p>
        </p:txBody>
      </p:sp>
      <p:pic>
        <p:nvPicPr>
          <p:cNvPr id="4098" name="Picture 2" descr="Federal Funding ...">
            <a:extLst>
              <a:ext uri="{FF2B5EF4-FFF2-40B4-BE49-F238E27FC236}">
                <a16:creationId xmlns:a16="http://schemas.microsoft.com/office/drawing/2014/main" id="{66F933BF-AED9-7420-3102-B648B108A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14" y="3429000"/>
            <a:ext cx="5016500" cy="162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 for the HPCC: Summary and Setup">
            <a:extLst>
              <a:ext uri="{FF2B5EF4-FFF2-40B4-BE49-F238E27FC236}">
                <a16:creationId xmlns:a16="http://schemas.microsoft.com/office/drawing/2014/main" id="{2472EDCB-8BDA-ABBB-EFA4-7E90A60D7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959" y="3429000"/>
            <a:ext cx="3909780" cy="117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932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3DA358-65B7-D932-5EB3-5213324A506D}"/>
              </a:ext>
            </a:extLst>
          </p:cNvPr>
          <p:cNvSpPr txBox="1"/>
          <p:nvPr/>
        </p:nvSpPr>
        <p:spPr>
          <a:xfrm>
            <a:off x="4288521" y="174075"/>
            <a:ext cx="33425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Layered Graphene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7D89A8-BEDF-26CA-C64C-4E93B611D534}"/>
              </a:ext>
            </a:extLst>
          </p:cNvPr>
          <p:cNvSpPr txBox="1"/>
          <p:nvPr/>
        </p:nvSpPr>
        <p:spPr>
          <a:xfrm>
            <a:off x="963168" y="1487424"/>
            <a:ext cx="31099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TOTAL ENERGY=  -74.882235530202308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TOTAL ENERGY=  -75.333627728647855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TOTAL ENERGY=  -75.334907673558803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TOTAL ENERGY=  -75.338786124277419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TOTAL ENERGY=  -75.338823441880379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TOTAL ENERGY=  -75.338760360801871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TOTAL ENERGY=  -75.338763416444408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61192E-DF1E-EE31-7BD8-073814DD2488}"/>
              </a:ext>
            </a:extLst>
          </p:cNvPr>
          <p:cNvSpPr txBox="1"/>
          <p:nvPr/>
        </p:nvSpPr>
        <p:spPr>
          <a:xfrm>
            <a:off x="91038" y="4619411"/>
            <a:ext cx="726333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delta_rho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CC(q), FOLD=   2.5129244560268500        10.785093046237026        11.952848469981530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delta_rho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CC(q), FOLD=   1.2965924401315523        9.5419383668707312        11.901462739193553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delta_rho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CC(q), FOLD=   1.2639724943527726        9.5336147102536941        11.902948905373911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delta_rho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CC(q), FOLD=   1.0146014120080247        9.5182345770437529        11.905217207945762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delta_rho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CC(q), FOLD=  0.99982747519458470        9.5169814685954055        11.905203215573147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delta_rho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CC(q), FOLD=  0.90410486703107862        9.4929253125735933        11.904564000150630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delta_rho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CC(q), FOLD=  0.90354328670190209        9.4939033124426278        11.904608911773034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374626-DA4E-4A88-851A-4A7BF98F421D}"/>
              </a:ext>
            </a:extLst>
          </p:cNvPr>
          <p:cNvSpPr txBox="1"/>
          <p:nvPr/>
        </p:nvSpPr>
        <p:spPr>
          <a:xfrm>
            <a:off x="5340104" y="1487424"/>
            <a:ext cx="588872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4.0924541139083687E-005   1.6552119639675144E-006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4.0923309083631865E-005   1.6552104183989749E-006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3.1730416402833373E-005   1.6155524578396090E-006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3.1730079888641949E-005   1.6155525952509343E-006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5.9172183953355636E-005   4.6465787945728853E-006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5.9183915739945874E-005   4.6465777924022920E-006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5.0344491096573473E-005   3.6539257054039100E-006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5.0344421356203473E-005   3.6539257068599334E-006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9.0436237091131547E-006   6.1824772139742401E-007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9.0436237150746404E-006   6.1824772267425005E-007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4.9392044050450452E-005   1.7274333598183119E-006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4.9392043829073614E-005   1.7274333585250010E-006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8.8644204379454109E-007   5.5978486760607703E-008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8.8644204179573254E-007   5.5978486416850552E-008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C49343-C871-FCAA-BBE7-72B62945DAAE}"/>
              </a:ext>
            </a:extLst>
          </p:cNvPr>
          <p:cNvSpPr txBox="1"/>
          <p:nvPr/>
        </p:nvSpPr>
        <p:spPr>
          <a:xfrm>
            <a:off x="1133856" y="890016"/>
            <a:ext cx="5844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27 cells in Wannier Domain: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nz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going from -1 to 1</a:t>
            </a:r>
          </a:p>
        </p:txBody>
      </p:sp>
    </p:spTree>
    <p:extLst>
      <p:ext uri="{BB962C8B-B14F-4D97-AF65-F5344CB8AC3E}">
        <p14:creationId xmlns:p14="http://schemas.microsoft.com/office/powerpoint/2010/main" val="1115609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C9EA6-F308-1EF9-2A42-7E4441A56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4FEA7B-FC59-842C-6F95-C5EB8DE4E069}"/>
              </a:ext>
            </a:extLst>
          </p:cNvPr>
          <p:cNvSpPr txBox="1"/>
          <p:nvPr/>
        </p:nvSpPr>
        <p:spPr>
          <a:xfrm>
            <a:off x="1109472" y="1533632"/>
            <a:ext cx="310995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TOTAL ENERGY=  -74.886011764392890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TOTAL ENERGY=  -75.334506593225569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TOTAL ENERGY=  -75.335033360705495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TOTAL ENERGY=  -75.339692911843372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TOTAL ENERGY=  -75.339870228944733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TOTAL ENERGY=  -75.339904359983620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TOTAL ENERGY=  -75.339811060065642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TOTAL ENERGY=  -75.339780691543751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TOTAL ENERGY=  -75.339780007693093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30D33C-7D90-F0A4-A776-5DFF6268A633}"/>
              </a:ext>
            </a:extLst>
          </p:cNvPr>
          <p:cNvSpPr txBox="1"/>
          <p:nvPr/>
        </p:nvSpPr>
        <p:spPr>
          <a:xfrm>
            <a:off x="5710964" y="991124"/>
            <a:ext cx="588872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3.6483772275170166E-004   6.2993510107735894E-006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3.6483804551685865E-004   6.2993914711036297E-006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2.4365787240704971E-003   2.0203833670413260E-004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2.4365785532509685E-003   2.0203834077149566E-004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1.7466254602818787E-003   2.0292365875967841E-004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1.7466256728203421E-003   2.0292365826356918E-004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1.2155346288593521E-003   1.1685047364854941E-004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1.2155344245657982E-003   1.1685047244765315E-004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2.9286983387195409E-004   3.0127104446435497E-005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2.9286906376093307E-004   3.0127104107330844E-005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9.9691340639599378E-005   4.0156232572277131E-006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9.9688946033649244E-005   4.0156568483764999E-006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9.9049149737895484E-005   9.0664013787096432E-006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9.9050260146776430E-005   9.0664153081953904E-006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9.9481006376344892E-005   8.5761504381586435E-006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9.9476329723182128E-005   8.5761792438771673E-006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9.9357280678131986E-005   8.4243286407622844E-006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9.9352960398391965E-005   8.4242939500692206E-006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E6B1A5-160B-1A40-8B19-F215A0A180AF}"/>
              </a:ext>
            </a:extLst>
          </p:cNvPr>
          <p:cNvSpPr txBox="1"/>
          <p:nvPr/>
        </p:nvSpPr>
        <p:spPr>
          <a:xfrm>
            <a:off x="1109472" y="4762298"/>
            <a:ext cx="726333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delta_rho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CC(q), FOLD=   2.5177256679652085        10.782647919163812        11.952790864600118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delta_rho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CC(q), FOLD=   1.3047034402821656        9.5345556197244559        11.902302935651832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delta_rho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CC(q), FOLD=   1.2646308678563403        9.5282820079901001        11.902054516411274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delta_rho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CC(q), FOLD=  0.99135271300627148        9.5196717806534856        11.905430000819761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delta_rho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CC(q), FOLD=   1.0073511832559217        9.5176175998128265        11.905191498251902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delta_rho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CC(q), FOLD=  0.93918241851188222        9.5024037784821189        11.904858204938737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delta_rho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CC(q), FOLD=  0.90345448624238001        9.4940825692843926        11.904625714577847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delta_rho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CC(q), FOLD=  0.89121686445434922        9.4925371728833152        11.904574603549838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delta_rho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CC(q), FOLD=  0.89105001346087631        9.4926555441492422        11.904567659923684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52522D-7803-A49E-DDD4-74997898326B}"/>
              </a:ext>
            </a:extLst>
          </p:cNvPr>
          <p:cNvSpPr txBox="1"/>
          <p:nvPr/>
        </p:nvSpPr>
        <p:spPr>
          <a:xfrm>
            <a:off x="2994061" y="113050"/>
            <a:ext cx="6717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Twisted Layered Graphene (5° degree)</a:t>
            </a:r>
          </a:p>
        </p:txBody>
      </p:sp>
    </p:spTree>
    <p:extLst>
      <p:ext uri="{BB962C8B-B14F-4D97-AF65-F5344CB8AC3E}">
        <p14:creationId xmlns:p14="http://schemas.microsoft.com/office/powerpoint/2010/main" val="2832036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FD8029-2013-A30D-646E-D6A024324025}"/>
              </a:ext>
            </a:extLst>
          </p:cNvPr>
          <p:cNvSpPr txBox="1"/>
          <p:nvPr/>
        </p:nvSpPr>
        <p:spPr>
          <a:xfrm>
            <a:off x="743712" y="1450848"/>
            <a:ext cx="311335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TOTAL ENERGY=  -74.889127721452780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TOTAL ENERGY=  -75.336642269845015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TOTAL ENERGY=  -75.338103798380189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TOTAL ENERGY=  -75.342686845856804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TOTAL ENERGY=  -75.342723423807911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TOTAL ENERGY=  -75.342657283310530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TOTAL ENERGY=  -75.342642987805448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TOTAL ENERGY=  -75.342626439413266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TOTAL ENERGY=  -75.342627386212826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5F1C6C-ABE2-BC45-2099-CD5DD1E34C1E}"/>
              </a:ext>
            </a:extLst>
          </p:cNvPr>
          <p:cNvSpPr txBox="1"/>
          <p:nvPr/>
        </p:nvSpPr>
        <p:spPr>
          <a:xfrm>
            <a:off x="5742432" y="1073402"/>
            <a:ext cx="588872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9.8891214846268826E-005   2.4605138291221549E-006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9.8888788200290347E-005   2.4603760676476785E-006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6.2434209970646374E-004   5.9592615995959829E-005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6.2434204983496456E-004   5.9592615840968114E-005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9.9627812416221509E-005   1.0022379895226293E-005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9.9619285350086627E-005   1.0022381832711286E-005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9.9265988432573941E-005   7.5169118011393758E-006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9.9273557904652187E-005   7.5168098533825546E-006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9.8447843926177328E-005   3.2782086698393548E-006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9.8450138777043806E-005   3.2782378374646816E-006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9.8549686036623392E-005   7.1803726676294183E-006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9.8546891039883290E-005   7.1805067475296981E-006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9.8301557362715639E-005   6.3630351032553312E-006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9.8299866926011557E-005   6.3629973463341556E-006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9.5643396896037797E-005   5.2870477169805273E-006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9.5643833842012520E-005   5.2869309829178408E-006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9.3164960658057936E-005   5.1715592602475138E-006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ERRDOTF, ERRMAXF:   9.3163716478222538E-005   5.1715786819763408E-006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652A08-5711-9ADB-7E5B-D34314021392}"/>
              </a:ext>
            </a:extLst>
          </p:cNvPr>
          <p:cNvSpPr txBox="1"/>
          <p:nvPr/>
        </p:nvSpPr>
        <p:spPr>
          <a:xfrm>
            <a:off x="743712" y="4852416"/>
            <a:ext cx="726333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delta_rho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CC(q), FOLD=   2.5176393157073975        10.782777322944876        11.952794943381006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delta_rho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CC(q), FOLD=   1.3046122708995425        9.5336451732478711        11.901797881755707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delta_rho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CC(q), FOLD=   1.2646758273259757        9.5320691578032850        11.902411180843181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delta_rho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CC(q), FOLD=   1.0181017601024602        9.5237767014123378        11.905404013211726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delta_rho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CC(q), FOLD=   1.0040895037552322        9.5200793376657877        11.905302078181959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delta_rho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CC(q), FOLD=  0.90567568674256593        9.4972446349646589        11.904739856746716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delta_rho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CC(q), FOLD=  0.89933451465758640        9.4964480274506293        11.904714652416933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delta_rho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CC(q), FOLD=  0.89104878729869574        9.4954864709513114        11.904668521278182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delta_rho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CC(q), FOLD=  0.89109008246911059        9.4956450216811881        11.904671624457476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6196DD-3393-39F2-E4A3-CA5D3AEEA71F}"/>
              </a:ext>
            </a:extLst>
          </p:cNvPr>
          <p:cNvSpPr txBox="1"/>
          <p:nvPr/>
        </p:nvSpPr>
        <p:spPr>
          <a:xfrm>
            <a:off x="2994061" y="113050"/>
            <a:ext cx="71182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Twisted Layered Graphene (10° degree)</a:t>
            </a:r>
          </a:p>
        </p:txBody>
      </p:sp>
    </p:spTree>
    <p:extLst>
      <p:ext uri="{BB962C8B-B14F-4D97-AF65-F5344CB8AC3E}">
        <p14:creationId xmlns:p14="http://schemas.microsoft.com/office/powerpoint/2010/main" val="1410331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228867</TotalTime>
  <Words>2668</Words>
  <Application>Microsoft Macintosh PowerPoint</Application>
  <PresentationFormat>Widescreen</PresentationFormat>
  <Paragraphs>315</Paragraphs>
  <Slides>18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Wingdings</vt:lpstr>
      <vt:lpstr>Office Theme</vt:lpstr>
      <vt:lpstr>A Wannier-first approach to chiral extended systems</vt:lpstr>
      <vt:lpstr>Why Wannier-first? </vt:lpstr>
      <vt:lpstr>Wannier-function Properties</vt:lpstr>
      <vt:lpstr>Constructing Localized Wannier Subspace</vt:lpstr>
      <vt:lpstr>Real-Space Construction of the Crystal Potential</vt:lpstr>
      <vt:lpstr>SCF Loop</vt:lpstr>
      <vt:lpstr>Bandstructure Calculation</vt:lpstr>
      <vt:lpstr>PowerPoint Presentation</vt:lpstr>
      <vt:lpstr>W-first vs Gaussian PBC code</vt:lpstr>
      <vt:lpstr>PowerPoint Presentation</vt:lpstr>
      <vt:lpstr>Graphene and derivatives </vt:lpstr>
      <vt:lpstr>PowerPoint Presentation</vt:lpstr>
      <vt:lpstr>Carbon nanotubes</vt:lpstr>
      <vt:lpstr>Summary</vt:lpstr>
      <vt:lpstr>Acknowledgements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Yashpal Singh</dc:creator>
  <cp:lastModifiedBy>Yashpal Singh</cp:lastModifiedBy>
  <cp:revision>119</cp:revision>
  <dcterms:created xsi:type="dcterms:W3CDTF">2025-04-15T01:06:37Z</dcterms:created>
  <dcterms:modified xsi:type="dcterms:W3CDTF">2026-07-11T03:36:08Z</dcterms:modified>
</cp:coreProperties>
</file>